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eshavperiwal/Documents Local/Semester 2/Project Time Series/Data/results/template_assets/imag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4251">
              <a:alpha val="79000"/>
            </a:srgbClr>
          </a:solidFill>
          <a:ln w="12700">
            <a:solidFill>
              <a:srgbClr val="20425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585216"/>
            <a:ext cx="2788920" cy="987552"/>
          </a:xfrm>
          <a:prstGeom prst="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722376"/>
            <a:ext cx="2331720" cy="8138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19019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D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Project SS26 | Deliverable 1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94944" y="230428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Gait-Based Parkinson's Disease Detection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731520" y="3200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analysis, feature engineering, and non-Mamba baseline results using the provided 5-fold protocol.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49808" y="4892040"/>
            <a:ext cx="141732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77824" y="502005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877824" y="5376672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walk-01 subjects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2395728" y="4892040"/>
            <a:ext cx="164592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23744" y="50200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81.0%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2523744" y="537667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test accuracy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4279392" y="4892040"/>
            <a:ext cx="141732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07408" y="502005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80.1%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4407408" y="5376672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test F1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749808" y="6080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2D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6126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" y="1014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Non-Mamba baselines now exceed the reference linear-SVM range while preserving the official split protocol.</a:t>
            </a:r>
            <a:endParaRPr lang="en-US" sz="930" dirty="0"/>
          </a:p>
        </p:txBody>
      </p:sp>
      <p:pic>
        <p:nvPicPr>
          <p:cNvPr id="6" name="Image 0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6032"/>
            <a:ext cx="2176272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Deliverable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Fakultat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92256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8368" y="1508760"/>
            <a:ext cx="3703320" cy="1143000"/>
          </a:xfrm>
          <a:prstGeom prst="rect">
            <a:avLst/>
          </a:prstGeom>
          <a:solidFill>
            <a:srgbClr val="0D766E">
              <a:alpha val="95000"/>
            </a:srgbClr>
          </a:solidFill>
          <a:ln w="8890">
            <a:solidFill>
              <a:srgbClr val="0D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655064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4672" y="1947672"/>
            <a:ext cx="3410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features with sparse L1 logistic regression reach 81.0% mean test accuracy and 80.1% mean test F1 across the five folds.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36592" y="1508760"/>
            <a:ext cx="1572768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163677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64608" y="19933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/ patients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6510528" y="1508760"/>
            <a:ext cx="137160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38544" y="163677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638544" y="19933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predefined folds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8083296" y="1508760"/>
            <a:ext cx="214884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11312" y="1636776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20 / 20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8211312" y="199339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/ test per fold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822960" y="321868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is balanced by class in every training, validation, and test split.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uses validation data only; final metrics are averaged over held-out fold test sets.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linear SVM reaches 79.0% mean test accuracy, above the 73% reference mentioned in the meeting slides.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overall non-Mamba model is sparse logistic regression on enhanced features.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6080760" y="32278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l1 logistic</a:t>
            </a:r>
            <a:endParaRPr lang="en-US" sz="760" dirty="0"/>
          </a:p>
        </p:txBody>
      </p:sp>
      <p:sp>
        <p:nvSpPr>
          <p:cNvPr id="25" name="Shape 22"/>
          <p:cNvSpPr/>
          <p:nvPr/>
        </p:nvSpPr>
        <p:spPr>
          <a:xfrm>
            <a:off x="8321040" y="3200400"/>
            <a:ext cx="2651760" cy="192024"/>
          </a:xfrm>
          <a:prstGeom prst="rect">
            <a:avLst/>
          </a:prstGeom>
          <a:solidFill>
            <a:srgbClr val="C2D0DC">
              <a:alpha val="95000"/>
            </a:srgbClr>
          </a:solidFill>
          <a:ln w="12700">
            <a:solidFill>
              <a:srgbClr val="C2D0DC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21040" y="3200400"/>
            <a:ext cx="2122735" cy="192024"/>
          </a:xfrm>
          <a:prstGeom prst="rect">
            <a:avLst/>
          </a:prstGeom>
          <a:solidFill>
            <a:srgbClr val="0D766E"/>
          </a:solidFill>
          <a:ln w="12700">
            <a:solidFill>
              <a:srgbClr val="0D766E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036808" y="31958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D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80.1%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080760" y="36118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linear svm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>
            <a:off x="8321040" y="3584448"/>
            <a:ext cx="2651760" cy="192024"/>
          </a:xfrm>
          <a:prstGeom prst="rect">
            <a:avLst/>
          </a:prstGeom>
          <a:solidFill>
            <a:srgbClr val="C2D0DC">
              <a:alpha val="95000"/>
            </a:srgbClr>
          </a:solidFill>
          <a:ln w="12700">
            <a:solidFill>
              <a:srgbClr val="C2D0DC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21040" y="3584448"/>
            <a:ext cx="2108671" cy="192024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036808" y="35798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79.5%</a:t>
            </a:r>
            <a:endParaRPr lang="en-US" sz="760" dirty="0"/>
          </a:p>
        </p:txBody>
      </p:sp>
      <p:sp>
        <p:nvSpPr>
          <p:cNvPr id="32" name="Text 29"/>
          <p:cNvSpPr/>
          <p:nvPr/>
        </p:nvSpPr>
        <p:spPr>
          <a:xfrm>
            <a:off x="6080760" y="39959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l1 logistic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8321040" y="3968496"/>
            <a:ext cx="2651760" cy="192024"/>
          </a:xfrm>
          <a:prstGeom prst="rect">
            <a:avLst/>
          </a:prstGeom>
          <a:solidFill>
            <a:srgbClr val="C2D0DC">
              <a:alpha val="95000"/>
            </a:srgbClr>
          </a:solidFill>
          <a:ln w="12700">
            <a:solidFill>
              <a:srgbClr val="C2D0DC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21040" y="3968496"/>
            <a:ext cx="2049605" cy="192024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036808" y="39639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77.3%</a:t>
            </a:r>
            <a:endParaRPr lang="en-US" sz="760" dirty="0"/>
          </a:p>
        </p:txBody>
      </p:sp>
      <p:sp>
        <p:nvSpPr>
          <p:cNvPr id="36" name="Text 33"/>
          <p:cNvSpPr/>
          <p:nvPr/>
        </p:nvSpPr>
        <p:spPr>
          <a:xfrm>
            <a:off x="6080760" y="43799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extra trees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8321040" y="4352544"/>
            <a:ext cx="2651760" cy="192024"/>
          </a:xfrm>
          <a:prstGeom prst="rect">
            <a:avLst/>
          </a:prstGeom>
          <a:solidFill>
            <a:srgbClr val="C2D0DC">
              <a:alpha val="95000"/>
            </a:srgbClr>
          </a:solidFill>
          <a:ln w="12700">
            <a:solidFill>
              <a:srgbClr val="C2D0DC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21040" y="4352544"/>
            <a:ext cx="1986752" cy="192024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036808" y="43479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74.9%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6080760" y="476402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random forest</a:t>
            </a:r>
            <a:endParaRPr lang="en-US" sz="760" dirty="0"/>
          </a:p>
        </p:txBody>
      </p:sp>
      <p:sp>
        <p:nvSpPr>
          <p:cNvPr id="41" name="Shape 38"/>
          <p:cNvSpPr/>
          <p:nvPr/>
        </p:nvSpPr>
        <p:spPr>
          <a:xfrm>
            <a:off x="8321040" y="4736592"/>
            <a:ext cx="2651760" cy="192024"/>
          </a:xfrm>
          <a:prstGeom prst="rect">
            <a:avLst/>
          </a:prstGeom>
          <a:solidFill>
            <a:srgbClr val="C2D0DC">
              <a:alpha val="95000"/>
            </a:srgbClr>
          </a:solidFill>
          <a:ln w="12700">
            <a:solidFill>
              <a:srgbClr val="C2D0DC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21040" y="4736592"/>
            <a:ext cx="1972193" cy="192024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036808" y="47320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74.4%</a:t>
            </a:r>
            <a:endParaRPr lang="en-US" sz="760" dirty="0"/>
          </a:p>
        </p:txBody>
      </p:sp>
      <p:sp>
        <p:nvSpPr>
          <p:cNvPr id="44" name="Text 41"/>
          <p:cNvSpPr/>
          <p:nvPr/>
        </p:nvSpPr>
        <p:spPr>
          <a:xfrm>
            <a:off x="6080760" y="51480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l1 logistic</a:t>
            </a:r>
            <a:endParaRPr lang="en-US" sz="760" dirty="0"/>
          </a:p>
        </p:txBody>
      </p:sp>
      <p:sp>
        <p:nvSpPr>
          <p:cNvPr id="45" name="Shape 42"/>
          <p:cNvSpPr/>
          <p:nvPr/>
        </p:nvSpPr>
        <p:spPr>
          <a:xfrm>
            <a:off x="8321040" y="5120640"/>
            <a:ext cx="2651760" cy="192024"/>
          </a:xfrm>
          <a:prstGeom prst="rect">
            <a:avLst/>
          </a:prstGeom>
          <a:solidFill>
            <a:srgbClr val="C2D0DC">
              <a:alpha val="95000"/>
            </a:srgbClr>
          </a:solidFill>
          <a:ln w="12700">
            <a:solidFill>
              <a:srgbClr val="C2D0DC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321040" y="5120640"/>
            <a:ext cx="1965635" cy="192024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1036808" y="51160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74.1%</a:t>
            </a:r>
            <a:endParaRPr lang="en-US" sz="760" dirty="0"/>
          </a:p>
        </p:txBody>
      </p:sp>
      <p:sp>
        <p:nvSpPr>
          <p:cNvPr id="48" name="Text 45"/>
          <p:cNvSpPr/>
          <p:nvPr/>
        </p:nvSpPr>
        <p:spPr>
          <a:xfrm>
            <a:off x="6080760" y="55321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random forest</a:t>
            </a:r>
            <a:endParaRPr lang="en-US" sz="760" dirty="0"/>
          </a:p>
        </p:txBody>
      </p:sp>
      <p:sp>
        <p:nvSpPr>
          <p:cNvPr id="49" name="Shape 46"/>
          <p:cNvSpPr/>
          <p:nvPr/>
        </p:nvSpPr>
        <p:spPr>
          <a:xfrm>
            <a:off x="8321040" y="5504688"/>
            <a:ext cx="2651760" cy="192024"/>
          </a:xfrm>
          <a:prstGeom prst="rect">
            <a:avLst/>
          </a:prstGeom>
          <a:solidFill>
            <a:srgbClr val="C2D0DC">
              <a:alpha val="95000"/>
            </a:srgbClr>
          </a:solidFill>
          <a:ln w="12700">
            <a:solidFill>
              <a:srgbClr val="C2D0DC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321040" y="5504688"/>
            <a:ext cx="1958662" cy="192024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036808" y="55001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73.9%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6126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and Fold Protocol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" y="1014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uses only the provided walk-01 files and keeps testing isolated by fold.</a:t>
            </a:r>
            <a:endParaRPr lang="en-US" sz="930" dirty="0"/>
          </a:p>
        </p:txBody>
      </p:sp>
      <p:pic>
        <p:nvPicPr>
          <p:cNvPr id="6" name="Image 0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6032"/>
            <a:ext cx="2176272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Deliverable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Fakultat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92256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8368" y="1481328"/>
            <a:ext cx="150876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160934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86384" y="196596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subjects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395728" y="1481328"/>
            <a:ext cx="150876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23744" y="160934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B2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2523744" y="196596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 subjects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4133088" y="1481328"/>
            <a:ext cx="192024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61104" y="16093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63.0 / 66.5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261104" y="19659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age: control / PD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6291072" y="1481328"/>
            <a:ext cx="196596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19088" y="1609344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25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6419088" y="196596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/ female in each class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8485632" y="1481328"/>
            <a:ext cx="1600200" cy="822960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13648" y="160934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103.3s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8613648" y="196596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analyzed duration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73152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structure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182112"/>
          <a:ext cx="4709160" cy="141732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1234440"/>
                <a:gridCol w="960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 patients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5989320" y="3136392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fold repeats the same class balance, which removes the need for SMOTE in this first pass.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validation split controls model and feature-count selection.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split remains untouched until final scoring.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6126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Pipeline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" y="1014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and repository review motivated variability, asymmetry, and time-frequency descriptors.</a:t>
            </a:r>
            <a:endParaRPr lang="en-US" sz="930" dirty="0"/>
          </a:p>
        </p:txBody>
      </p:sp>
      <p:pic>
        <p:nvPicPr>
          <p:cNvPr id="6" name="Image 0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6032"/>
            <a:ext cx="2176272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Deliverable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Fakultat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92256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94360" y="1591056"/>
            <a:ext cx="1417320" cy="932688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" y="177393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704088" y="20574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5s from start and end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2075688" y="2057400"/>
            <a:ext cx="310896" cy="0"/>
          </a:xfrm>
          <a:prstGeom prst="line">
            <a:avLst/>
          </a:prstGeom>
          <a:noFill/>
          <a:ln w="13970">
            <a:solidFill>
              <a:srgbClr val="2F586E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496312" y="1591056"/>
            <a:ext cx="1417320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06040" y="177393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2606040" y="20574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windows, 2.5s step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3977640" y="2057400"/>
            <a:ext cx="310896" cy="0"/>
          </a:xfrm>
          <a:prstGeom prst="line">
            <a:avLst/>
          </a:prstGeom>
          <a:noFill/>
          <a:ln w="13970">
            <a:solidFill>
              <a:srgbClr val="2F586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398264" y="1591056"/>
            <a:ext cx="1417320" cy="932688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07992" y="177393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TSFresh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4507992" y="20574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force-signal features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5879592" y="2057400"/>
            <a:ext cx="310896" cy="0"/>
          </a:xfrm>
          <a:prstGeom prst="line">
            <a:avLst/>
          </a:prstGeom>
          <a:noFill/>
          <a:ln w="13970">
            <a:solidFill>
              <a:srgbClr val="2F586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300216" y="1591056"/>
            <a:ext cx="1417320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9944" y="177393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6409944" y="20574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Timing, COP, asymmetry, wavelets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7781544" y="2057400"/>
            <a:ext cx="310896" cy="0"/>
          </a:xfrm>
          <a:prstGeom prst="line">
            <a:avLst/>
          </a:prstGeom>
          <a:noFill/>
          <a:ln w="13970">
            <a:solidFill>
              <a:srgbClr val="2F586E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202168" y="1591056"/>
            <a:ext cx="1417320" cy="932688"/>
          </a:xfrm>
          <a:prstGeom prst="rect">
            <a:avLst/>
          </a:prstGeom>
          <a:solidFill>
            <a:srgbClr val="F3F7FA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11896" y="177393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8311896" y="20574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Fold-safe SelectKBest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9683496" y="2057400"/>
            <a:ext cx="310896" cy="0"/>
          </a:xfrm>
          <a:prstGeom prst="line">
            <a:avLst/>
          </a:prstGeom>
          <a:noFill/>
          <a:ln w="13970">
            <a:solidFill>
              <a:srgbClr val="2F586E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0104120" y="1591056"/>
            <a:ext cx="1417320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13848" y="177393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10213848" y="20574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ExtraTrees, SVM, sparse logistic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713232" y="3154680"/>
            <a:ext cx="4892040" cy="1417320"/>
          </a:xfrm>
          <a:prstGeom prst="rect">
            <a:avLst/>
          </a:prstGeom>
          <a:solidFill>
            <a:srgbClr val="2F586E">
              <a:alpha val="95000"/>
            </a:srgbClr>
          </a:solidFill>
          <a:ln w="8890">
            <a:solidFill>
              <a:srgbClr val="2F58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9536" y="3300984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representation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59536" y="3593592"/>
            <a:ext cx="45994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and right TSFresh vectors are combined with paired absolute differences, gait contact statistics, force symmetry, center-of-pressure descriptors, and Morlet wavelet power summaries.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080760" y="31546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 literature emphasizes rhythmicity, variability, asymmetry, stance timing, and double support.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GitHub CNN/scalogram work suggested capturing time-frequency information; here it is added as classical wavelet features.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scaling, imputation, feature selection, and model selection are performed inside the fold pipeline.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6126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Force Signals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" y="1014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vertical ground-reaction force over the first 10 seconds after trimming.</a:t>
            </a:r>
            <a:endParaRPr lang="en-US" sz="930" dirty="0"/>
          </a:p>
        </p:txBody>
      </p:sp>
      <p:pic>
        <p:nvPicPr>
          <p:cNvPr id="6" name="Image 0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6032"/>
            <a:ext cx="2176272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Deliverable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Fakultat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92256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03504" y="1325880"/>
            <a:ext cx="5394960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</p:spPr>
      </p:sp>
      <p:pic>
        <p:nvPicPr>
          <p:cNvPr id="12" name="Image 1" descr="/Users/keshavperiwal/Documents Local/Semester 2/Project Time Series/Data/results/figures/example_left_total_for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371600"/>
            <a:ext cx="5303520" cy="30358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99632" y="1325880"/>
            <a:ext cx="5394960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</p:spPr>
      </p:sp>
      <p:pic>
        <p:nvPicPr>
          <p:cNvPr id="14" name="Image 2" descr="/Users/keshavperiwal/Documents Local/Semester 2/Project Time Series/Data/results/figures/example_right_total_for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371600"/>
            <a:ext cx="5303520" cy="30358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4892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patient/control examples show differences in rhythm and force timing.</a:t>
            </a:r>
            <a:endParaRPr lang="en-US" sz="920" dirty="0"/>
          </a:p>
          <a:p>
            <a:r>
              <a:rPr lang="en-US" sz="9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traces are illustrative only; classification uses subject-level summaries across the full recording.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6126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Diagnostics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" y="1014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two principal components help visualize structure but do not cleanly separate the classes.</a:t>
            </a:r>
            <a:endParaRPr lang="en-US" sz="930" dirty="0"/>
          </a:p>
        </p:txBody>
      </p:sp>
      <p:pic>
        <p:nvPicPr>
          <p:cNvPr id="6" name="Image 0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6032"/>
            <a:ext cx="2176272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Deliverable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Fakultat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92256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30352" y="1353312"/>
            <a:ext cx="3520440" cy="2788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</p:spPr>
      </p:sp>
      <p:pic>
        <p:nvPicPr>
          <p:cNvPr id="12" name="Image 1" descr="/Users/keshavperiwal/Documents Local/Semester 2/Project Time Series/Data/results/figures/pca_left_fo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99032"/>
            <a:ext cx="3429000" cy="2697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43400" y="1353312"/>
            <a:ext cx="3520440" cy="2788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</p:spPr>
      </p:sp>
      <p:pic>
        <p:nvPicPr>
          <p:cNvPr id="14" name="Image 2" descr="/Users/keshavperiwal/Documents Local/Semester 2/Project Time Series/Data/results/figures/pca_right_fo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99032"/>
            <a:ext cx="3429000" cy="26974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156448" y="1353312"/>
            <a:ext cx="3520440" cy="2788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</p:spPr>
      </p:sp>
      <p:pic>
        <p:nvPicPr>
          <p:cNvPr id="16" name="Image 3" descr="/Users/keshavperiwal/Documents Local/Semester 2/Project Time Series/Data/results/figures/pca_combined_fe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1399032"/>
            <a:ext cx="3429000" cy="2697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" y="434340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PC1+PC2: 16.6% variance</a:t>
            </a:r>
            <a:endParaRPr lang="en-US" sz="820" dirty="0"/>
          </a:p>
        </p:txBody>
      </p:sp>
      <p:sp>
        <p:nvSpPr>
          <p:cNvPr id="18" name="Text 12"/>
          <p:cNvSpPr/>
          <p:nvPr/>
        </p:nvSpPr>
        <p:spPr>
          <a:xfrm>
            <a:off x="4480560" y="434340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PC1+PC2: 16.6% variance</a:t>
            </a:r>
            <a:endParaRPr lang="en-US" sz="820" dirty="0"/>
          </a:p>
        </p:txBody>
      </p:sp>
      <p:sp>
        <p:nvSpPr>
          <p:cNvPr id="19" name="Text 13"/>
          <p:cNvSpPr/>
          <p:nvPr/>
        </p:nvSpPr>
        <p:spPr>
          <a:xfrm>
            <a:off x="8302752" y="434340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PC1+PC2: 16.6% variance</a:t>
            </a:r>
            <a:endParaRPr lang="en-US" sz="820" dirty="0"/>
          </a:p>
        </p:txBody>
      </p:sp>
      <p:sp>
        <p:nvSpPr>
          <p:cNvPr id="20" name="Text 14"/>
          <p:cNvSpPr/>
          <p:nvPr/>
        </p:nvSpPr>
        <p:spPr>
          <a:xfrm>
            <a:off x="822960" y="49194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0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is useful as a sanity check, not as the final separation mechanism.</a:t>
            </a:r>
            <a:endParaRPr lang="en-US" sz="900" dirty="0"/>
          </a:p>
          <a:p>
            <a:r>
              <a:rPr lang="en-US" sz="90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feature selection and nonlinear/regularized baselines capture more discriminative structure.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6126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Results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" y="1014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enhanced feature set gives the best fold-averaged test performance before Mamba/SSM models.</a:t>
            </a:r>
            <a:endParaRPr lang="en-US" sz="930" dirty="0"/>
          </a:p>
        </p:txBody>
      </p:sp>
      <p:pic>
        <p:nvPicPr>
          <p:cNvPr id="6" name="Image 0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6032"/>
            <a:ext cx="2176272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Deliverable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Fakultat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92256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89888"/>
          <a:ext cx="6144768" cy="3547872"/>
        </p:xfrm>
        <a:graphic>
          <a:graphicData uri="http://schemas.openxmlformats.org/drawingml/2006/table">
            <a:tbl>
              <a:tblPr/>
              <a:tblGrid>
                <a:gridCol w="1143000"/>
                <a:gridCol w="1417320"/>
                <a:gridCol w="1051560"/>
                <a:gridCol w="123444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F1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acc.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F1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logistic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80.1%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svm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85.5%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79.5%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logistic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77.3%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trees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87.6%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74.9%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83.9%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74.4%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logistic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86.1%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74.1%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85.2%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73.9%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82.1%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73.1%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trees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87.6%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B2A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71.7%</a:t>
                      </a:r>
                      <a:endParaRPr lang="en-US" sz="8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" y="1389888"/>
            <a:ext cx="6144768" cy="310896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0" y="1481328"/>
            <a:ext cx="3493008" cy="1024128"/>
          </a:xfrm>
          <a:prstGeom prst="rect">
            <a:avLst/>
          </a:prstGeom>
          <a:solidFill>
            <a:srgbClr val="0D766E">
              <a:alpha val="95000"/>
            </a:srgbClr>
          </a:solidFill>
          <a:ln w="8890">
            <a:solidFill>
              <a:srgbClr val="0D766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461504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461504" y="192024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l1 logistic: 81.0% mean test accuracy and 80.1% mean test F1.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315200" y="2761488"/>
            <a:ext cx="3493008" cy="1024128"/>
          </a:xfrm>
          <a:prstGeom prst="rect">
            <a:avLst/>
          </a:prstGeom>
          <a:solidFill>
            <a:srgbClr val="2F586E">
              <a:alpha val="95000"/>
            </a:srgbClr>
          </a:solidFill>
          <a:ln w="8890">
            <a:solidFill>
              <a:srgbClr val="2F586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61504" y="2907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SVM reference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461504" y="320040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linear SVM reaches 79.0% mean test accuracy, exceeding the 73% meeting-slide reference.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333488" y="4160520"/>
            <a:ext cx="3493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7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rows use the same five train/validation/test folds.</a:t>
            </a:r>
            <a:endParaRPr lang="en-US" sz="870" dirty="0"/>
          </a:p>
          <a:p>
            <a:r>
              <a:rPr lang="en-US" sz="87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enhanced scope includes TSFresh, asymmetry, gait, COP, and wavelet features.</a:t>
            </a:r>
            <a:endParaRPr lang="en-US" sz="870" dirty="0"/>
          </a:p>
          <a:p>
            <a:r>
              <a:rPr lang="en-US" sz="87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logistic is attractive because it is sparse and easier to explain than deeper models.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6126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Improved the Model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" y="1014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 came from adding domain-informed descriptors while keeping the validation protocol strict.</a:t>
            </a:r>
            <a:endParaRPr lang="en-US" sz="930" dirty="0"/>
          </a:p>
        </p:txBody>
      </p:sp>
      <p:pic>
        <p:nvPicPr>
          <p:cNvPr id="6" name="Image 0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6032"/>
            <a:ext cx="2176272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Deliverable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Fakultat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92256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13232" y="1417320"/>
            <a:ext cx="4892040" cy="1024128"/>
          </a:xfrm>
          <a:prstGeom prst="rect">
            <a:avLst/>
          </a:prstGeom>
          <a:solidFill>
            <a:srgbClr val="F3F7FA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58191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 timing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7824" y="18745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duration, swing intervals, cadence, double support, and step interval variability.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6245352" y="1417320"/>
            <a:ext cx="4892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158191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Left-right asymmetry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9944" y="18745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absolute differences between left and right TSFresh features plus force symmetry descriptors.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713232" y="2926080"/>
            <a:ext cx="4892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30906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Time-frequency power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77824" y="33832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Morlet wavelet power captures rhythmic energy patterns without training a CNN yet.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6245352" y="2926080"/>
            <a:ext cx="4892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9944" y="30906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selection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9944" y="33832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logistic and SelectKBest reduce high-dimensional noise on only 100 subjects.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749808" y="4709160"/>
            <a:ext cx="10149840" cy="841248"/>
          </a:xfrm>
          <a:prstGeom prst="rect">
            <a:avLst/>
          </a:prstGeom>
          <a:solidFill>
            <a:srgbClr val="2F586E">
              <a:alpha val="95000"/>
            </a:srgbClr>
          </a:solidFill>
          <a:ln w="8890">
            <a:solidFill>
              <a:srgbClr val="2F58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6112" y="4855464"/>
            <a:ext cx="9857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caveat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96112" y="5148072"/>
            <a:ext cx="9857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papers often report higher scores under different protocols, full datasets, balancing strategies, or cross-validation choices. These results use the provided folds directly.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86E"/>
          </a:solidFill>
          <a:ln w="12700">
            <a:solidFill>
              <a:srgbClr val="2F58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6126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Next Steps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" y="1014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 is complete as a reproducible non-Mamba baseline package.</a:t>
            </a:r>
            <a:endParaRPr lang="en-US" sz="930" dirty="0"/>
          </a:p>
        </p:txBody>
      </p:sp>
      <p:pic>
        <p:nvPicPr>
          <p:cNvPr id="6" name="Image 0" descr="/Users/keshavperiwal/Documents Local/Semester 2/Project Time Series/Data/results/template_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6032"/>
            <a:ext cx="2176272" cy="758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Deliverable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Fakultat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92256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13232" y="1417320"/>
            <a:ext cx="3886200" cy="960120"/>
          </a:xfrm>
          <a:prstGeom prst="rect">
            <a:avLst/>
          </a:prstGeom>
          <a:solidFill>
            <a:srgbClr val="0D766E">
              <a:alpha val="95000"/>
            </a:srgbClr>
          </a:solidFill>
          <a:ln w="8890">
            <a:solidFill>
              <a:srgbClr val="0D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156362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best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9536" y="1856232"/>
            <a:ext cx="3593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81.0% accuracy / 80.1% F1 with enhanced sparse logistic regression.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" y="27889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now has fold manifests, demographics summaries, signal diagnostics, PCA plots, feature matrices, and baseline metrics.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baseline is interpretable and improves meaningfully over the first TSFresh-only result.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Mamba/SSM modeling can now start from a stronger and better documented classical baseline.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649224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next experiments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10528" y="1874520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selected L1 features per fold to identify stable gait markers.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fold-safe probability calibration and confusion matrices.</a:t>
            </a:r>
            <a:endParaRPr lang="en-US" sz="1020" dirty="0"/>
          </a:p>
          <a:p>
            <a:r>
              <a:rPr lang="en-US" sz="1020" dirty="0">
                <a:solidFill>
                  <a:srgbClr val="1B2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implement Mamba/SSM and compare against this enhanced baseline.</a:t>
            </a:r>
            <a:endParaRPr lang="en-US" sz="1020" dirty="0"/>
          </a:p>
        </p:txBody>
      </p:sp>
      <p:pic>
        <p:nvPicPr>
          <p:cNvPr id="17" name="Image 1" descr="/Users/keshavperiwal/Documents Local/Semester 2/Project Time Series/Data/results/template_assets/image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703320"/>
            <a:ext cx="4251960" cy="1591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Pattern Recognition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Gait-based Parkinson's Disease Detection</dc:title>
  <dc:subject>Deliverable 1 results</dc:subject>
  <dc:creator>Codex</dc:creator>
  <cp:lastModifiedBy>Codex</cp:lastModifiedBy>
  <cp:revision>1</cp:revision>
  <dcterms:created xsi:type="dcterms:W3CDTF">2026-05-22T17:03:55Z</dcterms:created>
  <dcterms:modified xsi:type="dcterms:W3CDTF">2026-05-22T17:03:55Z</dcterms:modified>
</cp:coreProperties>
</file>