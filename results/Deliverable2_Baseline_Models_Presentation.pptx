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2b131f5694b4b" /><Relationship Type="http://schemas.openxmlformats.org/officeDocument/2006/relationships/extended-properties" Target="/docProps/app.xml" Id="R2797033533d44b52" /><Relationship Type="http://schemas.openxmlformats.org/officeDocument/2006/relationships/officeDocument" Target="/ppt/presentation.xml" Id="R53c1bc3249e94f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fcf7f3fbe490d"/>
  </p:sldMasterIdLst>
  <p:notesMasterIdLst>
    <p:notesMasterId xmlns:r="http://schemas.openxmlformats.org/officeDocument/2006/relationships" r:id="R78003b30ff564d90"/>
  </p:notesMasterIdLst>
  <p:sldIdLst>
    <p:sldId xmlns:r="http://schemas.openxmlformats.org/officeDocument/2006/relationships" id="256" r:id="R329491697d5e4832"/>
    <p:sldId xmlns:r="http://schemas.openxmlformats.org/officeDocument/2006/relationships" id="257" r:id="R9d0d85a536144349"/>
    <p:sldId xmlns:r="http://schemas.openxmlformats.org/officeDocument/2006/relationships" id="258" r:id="R0e73697699934048"/>
    <p:sldId xmlns:r="http://schemas.openxmlformats.org/officeDocument/2006/relationships" id="259" r:id="R08de598177ca4a1e"/>
    <p:sldId xmlns:r="http://schemas.openxmlformats.org/officeDocument/2006/relationships" id="260" r:id="R768149800628426b"/>
    <p:sldId xmlns:r="http://schemas.openxmlformats.org/officeDocument/2006/relationships" id="261" r:id="R1b992ddb1f4842ec"/>
    <p:sldId xmlns:r="http://schemas.openxmlformats.org/officeDocument/2006/relationships" id="262" r:id="Rafe5a574ef554c99"/>
    <p:sldId xmlns:r="http://schemas.openxmlformats.org/officeDocument/2006/relationships" id="263" r:id="R2fc442997a8e4bde"/>
    <p:sldId xmlns:r="http://schemas.openxmlformats.org/officeDocument/2006/relationships" id="264" r:id="R6de3c8054d7441b0"/>
    <p:sldId xmlns:r="http://schemas.openxmlformats.org/officeDocument/2006/relationships" id="265" r:id="Re300425f7dee4ffc"/>
    <p:sldId xmlns:r="http://schemas.openxmlformats.org/officeDocument/2006/relationships" id="266" r:id="R904fbe784efb4341"/>
    <p:sldId xmlns:r="http://schemas.openxmlformats.org/officeDocument/2006/relationships" id="267" r:id="R63fbea859cbf49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328df41f4445b9" /><Relationship Type="http://schemas.openxmlformats.org/officeDocument/2006/relationships/slideMaster" Target="/ppt/slideMasters/slideMaster1.xml" Id="R4a8fcf7f3fbe490d" /><Relationship Type="http://schemas.openxmlformats.org/officeDocument/2006/relationships/notesMaster" Target="/ppt/notesMasters/notesMaster1.xml" Id="R78003b30ff564d90" /><Relationship Type="http://schemas.openxmlformats.org/officeDocument/2006/relationships/presProps" Target="/ppt/presProps.xml" Id="Rfa7522f7b37c4c6d" /><Relationship Type="http://schemas.openxmlformats.org/officeDocument/2006/relationships/viewProps" Target="/ppt/viewProps.xml" Id="R3985312f4b67425d" /><Relationship Type="http://schemas.openxmlformats.org/officeDocument/2006/relationships/tableStyles" Target="/ppt/tableStyles.xml" Id="R44827d652e8c428b" /><Relationship Type="http://schemas.openxmlformats.org/officeDocument/2006/relationships/slide" Target="/ppt/slides/slide1.xml" Id="R329491697d5e4832" /><Relationship Type="http://schemas.openxmlformats.org/officeDocument/2006/relationships/slide" Target="/ppt/slides/slide2.xml" Id="R9d0d85a536144349" /><Relationship Type="http://schemas.openxmlformats.org/officeDocument/2006/relationships/slide" Target="/ppt/slides/slide3.xml" Id="R0e73697699934048" /><Relationship Type="http://schemas.openxmlformats.org/officeDocument/2006/relationships/slide" Target="/ppt/slides/slide4.xml" Id="R08de598177ca4a1e" /><Relationship Type="http://schemas.openxmlformats.org/officeDocument/2006/relationships/slide" Target="/ppt/slides/slide5.xml" Id="R768149800628426b" /><Relationship Type="http://schemas.openxmlformats.org/officeDocument/2006/relationships/slide" Target="/ppt/slides/slide6.xml" Id="R1b992ddb1f4842ec" /><Relationship Type="http://schemas.openxmlformats.org/officeDocument/2006/relationships/slide" Target="/ppt/slides/slide7.xml" Id="Rafe5a574ef554c99" /><Relationship Type="http://schemas.openxmlformats.org/officeDocument/2006/relationships/slide" Target="/ppt/slides/slide8.xml" Id="R2fc442997a8e4bde" /><Relationship Type="http://schemas.openxmlformats.org/officeDocument/2006/relationships/slide" Target="/ppt/slides/slide9.xml" Id="R6de3c8054d7441b0" /><Relationship Type="http://schemas.openxmlformats.org/officeDocument/2006/relationships/slide" Target="/ppt/slides/slide10.xml" Id="Re300425f7dee4ffc" /><Relationship Type="http://schemas.openxmlformats.org/officeDocument/2006/relationships/slide" Target="/ppt/slides/slide11.xml" Id="R904fbe784efb4341" /><Relationship Type="http://schemas.openxmlformats.org/officeDocument/2006/relationships/slide" Target="/ppt/slides/slide12.xml" Id="R63fbea859cbf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d5906797134a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b0ae03d0a24b24" /><Relationship Type="http://schemas.openxmlformats.org/officeDocument/2006/relationships/notesMaster" Target="/ppt/notesMasters/notesMaster1.xml" Id="R6cb7964798d540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fdd5bc0d1441e9" /><Relationship Type="http://schemas.openxmlformats.org/officeDocument/2006/relationships/notesMaster" Target="/ppt/notesMasters/notesMaster1.xml" Id="R4c624fdce78a42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ac3d1471744405" /><Relationship Type="http://schemas.openxmlformats.org/officeDocument/2006/relationships/notesMaster" Target="/ppt/notesMasters/notesMaster1.xml" Id="R19b555b3d15e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7d3f7aeae1494d" /><Relationship Type="http://schemas.openxmlformats.org/officeDocument/2006/relationships/notesMaster" Target="/ppt/notesMasters/notesMaster1.xml" Id="R4d30a62c6f4c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2e2f760e264067" /><Relationship Type="http://schemas.openxmlformats.org/officeDocument/2006/relationships/notesMaster" Target="/ppt/notesMasters/notesMaster1.xml" Id="R9d470b9f50af45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fc7bc8cc444be6" /><Relationship Type="http://schemas.openxmlformats.org/officeDocument/2006/relationships/notesMaster" Target="/ppt/notesMasters/notesMaster1.xml" Id="Rb4764b7d7e9844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a0fa5c377c4e8a" /><Relationship Type="http://schemas.openxmlformats.org/officeDocument/2006/relationships/notesMaster" Target="/ppt/notesMasters/notesMaster1.xml" Id="R3f79631574b748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99a6cc1ab0438c" /><Relationship Type="http://schemas.openxmlformats.org/officeDocument/2006/relationships/notesMaster" Target="/ppt/notesMasters/notesMaster1.xml" Id="R4a98b2e2506748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1ce69c0e1b4400" /><Relationship Type="http://schemas.openxmlformats.org/officeDocument/2006/relationships/notesMaster" Target="/ppt/notesMasters/notesMaster1.xml" Id="Rfb068952e4c34a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31060965924eba" /><Relationship Type="http://schemas.openxmlformats.org/officeDocument/2006/relationships/notesMaster" Target="/ppt/notesMasters/notesMaster1.xml" Id="R6227bbb5c1bb43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6fc2e2a6394dfa" /><Relationship Type="http://schemas.openxmlformats.org/officeDocument/2006/relationships/notesMaster" Target="/ppt/notesMasters/notesMaster1.xml" Id="Rfb6f2c0057c041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7fa7c482ab40f8" /><Relationship Type="http://schemas.openxmlformats.org/officeDocument/2006/relationships/notesMaster" Target="/ppt/notesMasters/notesMaster1.xml" Id="Rbb7c3314481645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4b13fdd6f42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02f143ac6341be" /><Relationship Type="http://schemas.openxmlformats.org/officeDocument/2006/relationships/slideLayout" Target="/ppt/slideLayouts/slideLayout1.xml" Id="R94e53e3dd7f445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e53e3dd7f445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fa5be76c247b7" /><Relationship Type="http://schemas.openxmlformats.org/officeDocument/2006/relationships/image" Target="/ppt/media/image.jpeg" Id="R86484d423b944f9b" /><Relationship Type="http://schemas.openxmlformats.org/officeDocument/2006/relationships/notesSlide" Target="/ppt/notesSlides/notesSlide1.xml" Id="R7089f97616174d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ff0585b5548c9" /><Relationship Type="http://schemas.openxmlformats.org/officeDocument/2006/relationships/image" Target="/ppt/media/image.png" Id="R0fd434a94b604f27" /><Relationship Type="http://schemas.openxmlformats.org/officeDocument/2006/relationships/notesSlide" Target="/ppt/notesSlides/notesSlide2.xml" Id="R84d30e9ce61d40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ba7cd04e2433d" /><Relationship Type="http://schemas.openxmlformats.org/officeDocument/2006/relationships/notesSlide" Target="/ppt/notesSlides/notesSlide3.xml" Id="R8a4c3e9dc05040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ecc0e8f874a14" /><Relationship Type="http://schemas.openxmlformats.org/officeDocument/2006/relationships/notesSlide" Target="/ppt/notesSlides/notesSlide4.xml" Id="R7b1d0d66bf0b4f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2539ce33d4743" /><Relationship Type="http://schemas.openxmlformats.org/officeDocument/2006/relationships/image" Target="/ppt/media/image2.png" Id="R1293e5ba5e44459f" /><Relationship Type="http://schemas.openxmlformats.org/officeDocument/2006/relationships/notesSlide" Target="/ppt/notesSlides/notesSlide5.xml" Id="Rce5b5cb40260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b491b0f7d405e" /><Relationship Type="http://schemas.openxmlformats.org/officeDocument/2006/relationships/notesSlide" Target="/ppt/notesSlides/notesSlide6.xml" Id="R6ac29c7654fa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8331c268d4cbd" /><Relationship Type="http://schemas.openxmlformats.org/officeDocument/2006/relationships/notesSlide" Target="/ppt/notesSlides/notesSlide7.xml" Id="R6577b8040aed44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848e4315d476a" /><Relationship Type="http://schemas.openxmlformats.org/officeDocument/2006/relationships/notesSlide" Target="/ppt/notesSlides/notesSlide8.xml" Id="R0da9832bc3db4a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a5111fc8d4940" /><Relationship Type="http://schemas.openxmlformats.org/officeDocument/2006/relationships/notesSlide" Target="/ppt/notesSlides/notesSlide9.xml" Id="R6a7a085d1a1e4c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d3d4fbd3a4ef0" /><Relationship Type="http://schemas.openxmlformats.org/officeDocument/2006/relationships/image" Target="/ppt/media/image3.png" Id="Rcf68d1743c1b4e47" /><Relationship Type="http://schemas.openxmlformats.org/officeDocument/2006/relationships/notesSlide" Target="/ppt/notesSlides/notesSlide10.xml" Id="R35174dd3b47145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ea558a7cc4150" /><Relationship Type="http://schemas.openxmlformats.org/officeDocument/2006/relationships/notesSlide" Target="/ppt/notesSlides/notesSlide11.xml" Id="Rb27bd24bc2764a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7b7fbbe914c00" /><Relationship Type="http://schemas.openxmlformats.org/officeDocument/2006/relationships/notesSlide" Target="/ppt/notesSlides/notesSlide12.xml" Id="R769bdec58a564a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84d423b944f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93699-C5CA-4628-9F91-2664DDF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>
              <a:alpha val="60000"/>
            </a:srgbClr>
          </a:solidFill>
          <a:ln xmlns:a="http://schemas.openxmlformats.org/drawingml/2006/main" w="0">
            <a:solidFill>
              <a:srgbClr val="003A63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C5F3C-1B96-4E26-B027-C3BFA1DD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CABE3-F4E7-415B-895D-E047BEF5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809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 Models for Parkinson's Disease Gait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868BF-496C-432C-A780-504863FC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0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0F5"/>
                </a:solidFill>
                <a:latin typeface="Aptos"/>
                <a:ea typeface="Aptos"/>
                <a:cs typeface="Aptos"/>
              </a:rPr>
              <a:t>Random Forest, SVM, 1D-ResNet, LSTM, GRU, and PatchTST on fold-local feature vectors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FB6B5-485C-4CB6-B70D-E0F3E117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676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7A107-AF4A-49F1-83D7-0CECD69D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0.870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E5D40-EC85-4DF8-B561-36E70AA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best held-out 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8A024-737C-47B0-99F2-3F4D35E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1676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0DDF1-3380-4516-8C41-0FB9522E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196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B5E43-F26B-426E-87BC-45C50204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006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test subjects per full CV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41384-B39F-4118-BABA-C15536D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1676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F884F-7E38-464F-9B19-4FBBE072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96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12BD9-D1B2-4DE6-B6CE-D6311AE5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006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views reported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8E623-660E-4426-95A1-C9D7279B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8EA80-9270-4082-BAB1-C88D099D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92995-CA02-46B8-BF18-55F61D11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5033640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435EA5-CF38-4EBD-A61C-008EEFA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Friedrich-Alexander-Universität</a:t>
            </a:r>
          </a:p>
          <a:p xmlns:a="http://schemas.openxmlformats.org/drawingml/2006/main">
            <a:pPr algn="l">
              <a:defRPr sz="97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Technische Fakultät</a:t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434a94b604f27"/>
          <a:stretch xmlns:a="http://schemas.openxmlformats.org/drawingml/2006/main"/>
        </p:blipFill>
        <p:spPr>
          <a:xfrm xmlns:a="http://schemas.openxmlformats.org/drawingml/2006/main">
            <a:off x="8624990" y="304800"/>
            <a:ext cx="1800019" cy="628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BCB11-48BC-4F9E-B7C8-787B6CF8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7175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FAU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89E63-85BA-40AA-99DC-80707A77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DB74D-EE94-4378-80BB-B131C0A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28875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Deliverable 2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C5557-A70B-4876-89AE-2D8B685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0001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Train Random Forest, SVM linear, and SVM RBF with validation-selected hyperparameters.</a:t>
            </a:r>
          </a:p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Extract training, validation, and test feature matrices separately inside each fold.</a:t>
            </a:r>
          </a:p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Normalize the feature matrix using z-score statistics learned from the training split.</a:t>
            </a:r>
          </a:p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Report left-foot, right-foot, and combined-foot classification results.</a:t>
            </a:r>
          </a:p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Add an enhanced feature view for the stronger TSFresh + gait/asymmetry/wavelet baseline comparison.</a:t>
            </a:r>
          </a:p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Include Accuracy, Sensitivity, Specificity, and AUC.</a:t>
            </a:r>
          </a:p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Add confusion matrices for the best-performing model in each view.</a:t>
            </a:r>
          </a:p>
          <a:p xmlns:a="http://schemas.openxmlformats.org/drawingml/2006/main">
            <a:pPr algn="l">
              <a:defRPr sz="135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Include 1D-ResNet, LSTM, GRU, and PatchTST as feature-vector neural baselines.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AEB2D-4C2F-4509-83B2-775BF9D0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7D707-D73D-4BA6-9D7B-380876C7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EA553-683E-486C-86CE-5B458BDC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9908564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1AB4E-3703-4A2E-BE7E-FEF57EC6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AAEB5-B0FF-400C-AD30-A2FAF4C5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CBA34-E2BF-4E17-88D2-768C245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F9531-3C4F-4F6F-A627-F01690AE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1FC18-22DF-49C9-A636-431BFF59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F3272-4CA1-48F0-A75E-ECADE7BD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097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70415-A30B-44EE-A49F-AC4AE756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763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Use provided stratified folds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3F131-1E4B-4477-BC31-F425543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43075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Each fold has 60 training, 20 validation, and 20 test subjects with balanced PD/control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E4690-2967-4A7A-98A5-BC7B2EA0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E8B15-558A-4B15-8462-1BC90344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479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76B21-9BBE-42B3-8920-DD5F0391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145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Extract split-local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2A692-1DDD-45AE-8420-B94F1C65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81275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Every fold writes separate training, validation, and test feature matrices from its own signal files.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7CD4D-93FB-4FB9-B5F0-E981B53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B06C1-6A00-415C-80D0-30110568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861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3CABF-7282-4464-8FB5-EF652E07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527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Fit preprocessing inside each fold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3B8CC-5C63-4A40-8813-72D1A68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19475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Median imputation, variance filtering, z-score scaling, and feature selection are fit on training only.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33B0E-45C7-4EB0-9F01-92E78E1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54198-7157-4177-BF50-48B4FFB3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243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D73E1-56AC-4A5A-89BA-859621C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909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Select hyperparameters on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A6825-079A-4503-962F-DB073DF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RF and SVM grids are ranked by validation F1, then accuracy and AUC as tie-breakers to match the meeting-slide comparison.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4F8EC-DA40-4324-B318-875537A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B019C-BE4B-4F6A-898A-E3D4D22A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62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D7780-AF5F-4AB1-9922-14E35369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291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Report held-out test 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639FE-EE00-45F3-855F-5422C5B1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Final fold metrics are computed on the untouched test split and averaged over the five folds.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D88AE-1416-4587-A3AA-975AD71A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DB181-3192-4522-9928-C03A1D29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E3A42-105C-4A86-B493-17AB28ED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74ED8-E4A8-4747-8DD5-4516A4A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68832-C523-4E4B-B5BD-289432F2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F5CE9A-1510-48C4-B99E-60E31ED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Patient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A0E5FB-E921-440F-8F2D-A5BE3EA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0A6AD-41B5-4C99-88B7-D784C8B8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1907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EABA94-D901-4B4F-9BB7-4098E241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0E103-DEFB-431E-8A9B-587737E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251B65-209D-4B2F-A3F9-2148E144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E8CF74-1D53-43A3-8D0C-5413D7C8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A22A35-8F6F-4D93-9E42-F6176DD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33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CAC984-5BEE-420F-9A56-EF49CBB7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4DD75-AF03-4106-A598-A3BC7483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336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6194B3-C9A2-419F-BBA6-48E7D43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6289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2D66D0-D327-4BF6-80FF-90159B77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F05C7C-42B9-4497-B763-40D0366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6705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38FFA4-F305-48FD-80B6-EB41B50D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C4F5EB-0BAB-4893-A61F-357B58D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670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B4C9B1-2314-4C85-8656-9C113AD8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2290F2-418E-4F4D-A89C-BAD36150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670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30FEE5-1CB0-4423-AB91-34C07DBA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71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D9D72B-E84C-4352-852B-8DAD3510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0670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5692F2-FCC7-464C-BC10-A76E16F8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DB1766-E6E6-4683-BC23-B9DF68BC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A1285B-8AE2-4625-BFDA-749069BE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99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4E21A7-2D8E-41AF-A70E-1BB6E5C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47993C-1B5E-4708-B895-2424E83D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2790AF-78BC-43E2-A158-D920DF2E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052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DCC384-8772-4879-B6F8-48DF3B8D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099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AB99F7-9459-43B1-9E53-95C1011E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5052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B712A0-22E7-4F93-8B1D-252A4994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Positive class = Patient. Sensitivity = TP / (TP + FN). Specificity = TN / (TN + FP).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462210-026B-497D-BA37-A82621B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F12E7E-EA59-4726-BE93-452AF937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A745DF-5972-49A1-B30D-B1B76271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517591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D37BD-90F7-45C2-A122-586A778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1B62B-8437-47F0-9C66-F70984F6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Families Implemented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DCF1A-3638-441F-A2F5-6BE54F9F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C6831-3E1E-4943-A889-D2ECB60F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1E149-C5DE-49DA-8003-5EA6D132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077F2-031F-4DD8-AD80-4532924A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192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5C3E2-4887-45D6-836B-278D96C5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24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2D365-56F7-49F2-A9EC-59B8C21A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6192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17CF5-2D0E-4C9C-8E9B-8CD8C131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DE20A-CB5A-41D7-9751-44F64B1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6192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24228-AE1D-4CF7-8BF8-9A4AF3B5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240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B3301-9863-49FD-A19E-DD17BB3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157BE-4F02-4C00-8DF2-B7B80BF9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B9611-73B2-450D-BCCE-260477A0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764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classical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ECA4D-2444-4CB1-ADD5-B9CE8EC3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81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80B89-CFD1-45EE-9CD1-C19DC466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764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4785A-7D49-4E7C-A4E2-87E0B55F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812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AB505-6650-482E-9383-14899D3C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0764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TSFresh + engineered feature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3F567-FD04-4398-AB5C-A06C9742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4C47B-D77B-4C62-B8C8-96D52ECD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Grid search on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4DD2D-90A2-4E04-9F8E-17501226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38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D2404-99A4-4FF3-9A49-BD8716F9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336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classical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80CBF-C541-43D3-8C3B-5A35B8E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38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C2BA7-64DA-4CAB-92C1-9BFBA4FF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336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BA12A-CFAE-43E6-B4FE-F9CFE897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38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0D7CE-848F-4B03-B380-12DBD1F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5336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z-scored feature matrix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A0ED5-551A-4D73-8DB3-03460BC1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384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A3EED-391B-4FF9-9E39-12E0463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336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 and k-best grid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E9D16-44AC-4367-B884-C7CFECAB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D0AA4-4999-4D8E-9F08-6D49EA1C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908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classical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CAD38-A275-406E-B11D-A4BB458C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956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2130E2-F84B-4F15-8BC7-0B658910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RBF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C5B88C-B36D-462D-8A43-1D9B515A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956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44914-E1A1-40DC-AA3A-BD82783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9908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z-scored feature matrix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C8F9E-46DA-4DA0-A69E-EF587FFA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956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FC5B05-BFB6-4C69-8C34-7177FBA3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908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C, gamma, k-best grid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FD1C41-1204-4182-BF27-7FE796E4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528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AA40FE-8635-4BEF-99AF-E01103E4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480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classical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49505B-4896-4712-87AF-1D23A06C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52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823FD7-43AB-400E-8D5F-DA1F4719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4480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Enhanced 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571D15-611E-49F5-AC1C-545DABC0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528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2E08E0-B049-466F-A6F6-9B0ED8CE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4480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TSFresh + asymmetry + gait + wavelet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941E49-96E7-4775-859D-B00BB0FA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528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C39E23-3103-411F-BDF8-F1F6747B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480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same validation protocol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0AF1BD-E9DF-408E-9ECA-26E72C85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71B421-838A-4CC1-AB3D-90330C09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052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neural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236D03-A71F-4610-A269-FC6F499C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10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4FAB9B-9BC6-492B-A849-E5E2B99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052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1D-ResNet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C16DB3-6F96-46C2-8EC2-3BE015F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100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1C6D24-48DF-4617-B31E-0EDDA43F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9052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selected feature vector as 1D signal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9CE917-7479-46E5-9DEC-5D21E8C8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100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00EDB7-2E8B-4A52-8CE8-15C7B6C7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9052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best validation epoch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4C2928-9DC1-4820-AD30-667D7DA4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672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4C3792-39C8-49A7-8BB3-32CC36E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624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neural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168985-0AD2-4C8F-A7B7-3521A848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885639-0802-4162-9604-4E1EEB78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624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LSTM / GRU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742925-333F-4373-895D-ECF55D9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672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2DD3A6-225F-427F-B40D-132D45DB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3624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selected feature vector sequence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B44465-DD59-43B9-8B30-FCA1B891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672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0B61BB-6DA9-4E0E-A162-AEFBB228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3624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best validation epoch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E1BECB-59E1-49EB-9779-C4DC2C49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DCBF1E-FF72-44F3-A7C2-149B6933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1965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neural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C9BACF-06BA-4B1D-A1A7-781AD5A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24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A95C39-7C1E-473F-96AB-52031BE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196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E96EAA-CA3F-4A24-9E53-CF356EAD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24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0FE5AE-0DCD-4035-955D-10B02385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819650"/>
            <a:ext cx="464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patched feature vector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450FE4-FCE2-4457-96E0-29015A01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244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B40C8C-0894-4D98-BA65-1948D6E2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8196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best validation epoch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7C08A2-D3F3-4ADF-AFF5-140E205C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All models now use fold-local feature vectors. Neural models use train-fitted imputation, z-score scaling, and SelectKBest before training.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0DFF45-D1DC-4098-B973-B7E28F2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C25D43-095E-444E-9341-AEB5EF4E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206B6E5-D460-4037-A960-414BC60C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3721885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9637D-9AA2-4F9F-BEC3-06765A2B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DA411-DD4F-4D43-ACCF-5AEA7590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02706-5360-4712-AE03-B21CEFE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611F0-533E-4C77-BB54-DF44854D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3e5ba5e44459f"/>
          <a:stretch xmlns:a="http://schemas.openxmlformats.org/drawingml/2006/main"/>
        </p:blipFill>
        <p:spPr>
          <a:xfrm xmlns:a="http://schemas.openxmlformats.org/drawingml/2006/main">
            <a:off x="428625" y="1825625"/>
            <a:ext cx="11334750" cy="377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333BA-E810-460E-894D-1DE7DDC0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Fold-local feature-vector baselines remain strongest; feature-vector PatchTST is the best neural variant in the enhanced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5D966-B289-4945-A051-4B6B312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20D51-F3BB-4F56-B5F2-7022B5FC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3313A-DA88-4DEB-84D5-F8B0FFB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3573409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C77AC-835B-4883-B34D-6E1DA4D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8C814-39D7-4632-9534-35DF4595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Left Foot Classification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72B10-E1BF-46D7-95D4-C26FB18F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5C02-A49F-4FB5-B881-95D874D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5D1CE-EB16-444A-85B1-8248E92A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12414-B613-4F29-B7C6-3F11857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03F8E-1559-4537-A965-C498E71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71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066F9-8EE8-4AD7-B1C5-C33D775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C0AD3-ACB9-423E-9F3F-60F78D72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D0EE2-FC40-4600-A1C4-133DCE0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CEB88-E3C2-4B89-B084-6734EC1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5C1FA-0113-4B3F-9D5E-3DF77C6D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9CF3C-7139-4C45-8AF0-4025783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FB180-8C27-4350-A208-C7E79A0A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43B9A-8376-4374-9280-B5BD2474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716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2319D-8359-4E39-975B-3640F882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ACFAB-90DD-413E-B8B5-7A4EAC2B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4DC34-C9E7-478C-AFD8-70F8C92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8E884-8282-4745-A0AE-3638A708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859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4792E-B1E8-4BDA-9D28-46E417BB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812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F089A-7590-42CC-9221-5ADDB9E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2FD43-1438-4132-9B17-6A8C7228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61D43-DF21-4950-A787-17068AEE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20141-2D0F-4605-989D-0797A17C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72.0%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12741-A7B4-4114-AEFC-C971C0B8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66CA0-5282-4A4B-B04C-8CD82C64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DD88A-A5E6-439F-B50A-FACFE712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A4F37-02BD-46E3-B76B-58F3C14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4722A-37D9-45A6-BCD0-3824EE8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DDB2A-92A6-4CCB-8B73-6359B6B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955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D0FCA5-9768-49FA-813F-10998BD7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03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A4D465-40DF-47E0-89B9-157DB276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955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9A4AD8-6CEB-4BCB-B937-BFEC6E49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E25225-122C-4D0C-B5B5-5E82099E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69.0%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E04602-1898-48C6-A014-11376D41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B981C1-5600-4D21-B18A-E866DF46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64.0%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7DA0E7-EC60-4140-BE82-582CC3A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FAC09E-D33D-42D3-AFE8-220E9DBF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8BA3D-28A3-457A-B59C-E6638D97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003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8673D5-F99D-4072-A45F-F00A2C9D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955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0.782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87E486-8517-4739-8955-94F7036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CEDFBE-DE5D-47B1-B7E6-0211284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RBF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6306FA-39C5-4D39-81AF-A0D6A791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146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563387-322A-4813-A968-86CD9F01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5781A3-415D-452D-BB6F-3B4A19D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E033B1-92C0-40F0-B0D0-41053A6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62.0%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93D036-AC5F-48FF-B056-7259F249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BE4356-DA71-4EB0-BC5C-F33586C0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66.0%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BDE6F6-5AC5-4DB5-A4A0-DC084728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A7E453-A7B4-48EE-BF06-504C2BFF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58.0%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C5A8C5-6B91-4751-A1C6-C5B04BC4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146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6EB4E7-ECEE-4F62-9A14-F91ACC8A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0.752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453A78-289B-4182-A5C8-FECDC49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582F76-E39E-49FC-88E3-4E4EA501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1D-ResNet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291E3B-6235-4FFD-868C-D57BF2A8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290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CEC2BA-4EB0-4FDA-9DB5-6F6ACC41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242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0F717C-BBE8-4CF4-A441-5FF4E976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6DFBDC-62FA-44B5-A21A-13757B39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578E0A-0015-4423-94B3-87F93CCC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C93C01-88CA-4BAC-A37C-7546CB2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30.0%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CE9BEF-746D-4ABB-BF59-EE084387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74AE05-1577-4097-8CFB-3B78B895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90.0%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7CE39F-7D27-4AC1-9EF5-654DFA14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290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A05AC3-1ACE-4EB4-9763-3D6B3D2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242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0.674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686FF5-3A01-4500-B0E8-2C3F3022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3A3A84-EDEF-4BD3-9AB3-E9D2A86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B56B07-8319-492E-82A9-2E45CE66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43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CEB6A4-09D9-45A2-A394-C79FD60A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386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3A59AF-4E73-46BC-BE55-294929DB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D0E2F20-A690-4847-A71D-9650E81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68.0%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27771B-88CE-4A5D-9280-548A8D3B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30A494-3FAE-4006-8325-CD25750D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52.0%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8D80D2-B7B4-4A26-9FD3-F75BD418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C04BD3-E569-4791-B9F6-4AF3985A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98FA3A-99F2-4739-98E2-6FE5A147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433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E56FEBE-89C9-416D-9FA0-27FFC545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386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0.760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E6B805-4B62-4D51-9EA6-F9172C3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35E728-1A41-4F1C-A999-2A1F860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BE521A-365B-4E8C-BCA6-7947D48D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A18741-8EC9-42AB-970F-05827B71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529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C5056D-EB17-40BD-A4CB-301D337C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3B81EDE-7FBF-453D-B6D6-A6987FAC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68.0%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0FA39D-052A-47A6-B1BC-73B2987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9A3188-FC47-45C6-A977-38742CFA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58.0%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F0DEBD-D30E-48C8-AB9F-51AB010F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BFB14D2-1AF9-446E-8A20-6E6A202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BB58AA-7719-4708-9FAC-4D2F402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577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AF6A320-0AAD-4B34-B7DA-316688C1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0.738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8F59055-3AB1-4BB4-805D-72FE9247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128704C-2F01-45A3-9C5C-19C0F80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C49E98-4706-4ECD-A621-34252744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720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2A02276-8B20-4EEC-8E01-5FFFE3B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673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9B2428-D034-4960-B340-3D77F6D7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5EFF10D-0335-4080-BD1A-02C3FCF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66.0%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2956248-D367-44DA-B783-895CA06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98A58F-3A5B-495A-BF5F-BC77F430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2E03A7E-9268-4D78-9BDE-0D86D711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7744888-6822-4C4F-BCAD-86F56BA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58.0%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C026ED6-951A-4BB0-9D1A-DB7B9CF1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720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C0716E-B32C-4AC6-96C6-B03FD92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673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0.720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9A883AB-D549-4C7F-A51C-6D30237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D42DA6-E53F-442E-B7F9-9669784D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FE1445-6A48-4A8E-9F68-417AA8C2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1A944B-7389-4CA8-A5B2-8E18C81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AUC 0.830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Acc 73.0%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Sens 72.0%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Spec 74.0%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7288BF1-625E-476D-9A4E-815AD81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51EE5AC-A117-4112-87A3-59C2751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3D5FD35-5306-4ED7-9B96-046093D8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3701201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04465-1E9D-4D9B-8524-7F6A19A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EEBEB-4C3B-4682-BF2A-DCCBD10A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Right Foot Classification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634D2-F794-4D5D-929A-C5750F2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47A96-FBAF-4149-8648-7DE21C77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D4A01-6764-41BA-BFDF-EF1647D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D957C-8D33-4ABF-A3B3-EF8E13F9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CB766-881F-4441-9EC0-454FE42F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71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6E775-F063-4225-BC7F-855395D4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3DCA0-50CC-4583-871D-2576ADC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39F6A-2A2C-46E1-91B4-3692A04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AC477-75F1-4636-81E2-3219C7B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AE61D-B2A4-4EE7-AFBF-FCC34122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1EB5D-7210-4323-B747-2BA2976B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3CE5C-1F30-4E6A-93BF-47E6C14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364A9-E973-4B8E-AD88-63004B24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716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B8D031-78AB-485A-BFFF-8FBD1561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55070-BFB8-479B-845D-46890C38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4A712-1FA6-4D28-B09F-F504D5A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BFB5B-DBC8-418F-9C52-8B6835AE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859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107B7-0604-43F7-879D-E2563C20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812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A672D-3C49-4DC9-8E4B-9A94B690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555AA-2592-4515-A4B0-337B2F9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D695F5-B8B5-4C84-90C8-FE17C79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F049B-C5E1-46BD-887B-F652BB9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9450F-8418-4458-A23D-8FCC8D7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6EA19-5F51-4769-933A-2CFF206B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07724-DB3F-4BCE-B9DF-6CC57AD2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E9AA00-1B9A-4660-9904-29171B93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0.840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F3BA9-A790-4593-A21A-C008FB4E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0C904-4036-41D8-AD7F-BE790995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955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0DD51E-8F7D-4294-B370-23450CF8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03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0CD16-3E2D-4051-AF94-651F39F3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955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E9176D-BAA5-4B67-8146-B63A5A94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48977-9C97-4DEF-B903-D09D35C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73.0%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42993E-FEAD-4BA6-85CE-3CB46CA5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31BB3F-B8E7-4FAE-92EA-4C32CE8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70.0%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4F0558-7C25-418F-83B7-4A27D3F6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1DE63C-F11B-437A-8D3D-D3C3910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230D1-1178-4615-81FB-842CCB05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003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29552-C7E4-47F8-82B1-B6921CF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955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D5E974-346F-41B4-8327-D6DBFA89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337FCA-A32E-4844-B996-B6264B6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RBF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F77D5D-CA29-48AB-92AB-4791265E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146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2E8325-6907-4A4A-A698-6E3B8323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3CF48A-4037-4A98-B0C5-54BC2936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9CE1BA-E879-4BBF-889C-48272988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63.0%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2062C3-B5DE-4143-8569-B39DD959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BEC9EF-176B-431F-BF5B-E8BC3D94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68.0%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65CF6B-CB20-459D-9F01-C5C8804F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FE7A8F-21BF-49BC-BC88-4C28881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58.0%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ABB8FA-751A-4245-B689-E39BF4A0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146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88CE1C-F73B-4F7C-8A06-350AC651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0.748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506FE3-FC46-45D9-9D2A-BF5D4C36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CF193-590F-4B4D-86F4-F56A4480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1D-ResNet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8347FD-0997-431B-8719-92DE9CFE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290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C33156-1712-4A51-A189-9B1D870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242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D7191C-BEF5-4213-BBD0-6452DA16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9135F8-3C72-46CC-997D-998C5DB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58.0%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00EB58-7F28-4C06-9D5D-C6ABD502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119543-EDB8-417C-B7EF-CE119CF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38.0%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87CB99-C1CF-4997-A4AD-D1D2AE75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AEFC5E-43C9-477C-8209-D218E55E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826836-C4C6-4ADD-AD80-8DD17A78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290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52E094-9B0B-4EAC-80E6-49D7509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242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0.632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913F49-E93A-4C9F-9459-B14E4FD3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7649A6-1224-40A6-819D-E83AEB2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BFDA5D-8901-4F8D-9816-297BC984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43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4F829B-DA2C-49F3-9064-39AE73DA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386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DAD499-33A2-49C5-BE5C-9D534F0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953312-F719-4CCF-B38B-B6D2437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64.0%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1150E6-C8F7-49B9-A2B3-46F95F3E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BA4CD1-7179-47E3-8E46-E47B670C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46.0%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59AD57-64A4-4D0A-9D90-F7B75D8A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B93653-C06A-4D22-9B19-0B8F253D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AB5671-7E00-44CC-86F8-FBF91E4F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433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9FB95C-A78D-40BA-8432-B2663EE1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386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0.628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1A2C8A8-787A-472D-B1AA-54597FC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5FCE51-2CE3-40D6-A172-9D6420C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E6499D-69BC-4580-81DE-FCEBE6B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5AB8A2-19BB-4F8B-B2D0-AEDB255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529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B6E2A2-DD94-42CF-8612-FFBE10C6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93EB08-B9EC-4802-8274-EF583087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59.0%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39D3223-AFF9-4707-AAB5-5A3A009D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6A8B61E-C237-4F60-85D0-F5FC948B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40.0%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1DF990-B4B7-40AC-B719-9E3A2D22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F07349-C55D-47C0-BCC8-4AB26214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461F61E-00B3-4B6B-A033-7F8A1005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577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70F6B7-3646-43D6-A059-22B49618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0.608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709273-6126-4E48-8336-93DC9C57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96B1CA0-6651-4BDC-AE05-9160BE84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9EA393D-F2FC-42A8-BE64-C9C5C921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720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10E6FA7-6FA4-4575-A3F3-717A5B57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673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DD6D902-6F25-4E3C-99F0-455FB22F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36830B0-9AF7-4E6B-81D4-1101C7EC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62.0%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7AD831-9A5F-42A2-BBD1-0188F23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1CC9F10-B943-4563-8C03-7326FB48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62.0%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65CEDC-A2A3-44C8-AC2E-FA1DDF15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2F5165-3C5A-43D2-A503-0CF909F2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62.0%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6B2A09-712E-4AB2-B62A-41331BB1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720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F15A366-5187-40ED-B6A6-797CB236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673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0.724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7447635-B369-45E2-8BAC-FBFD74E4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F425D57-FE03-4A5F-8B5E-D661F84C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B16FC6D-CA50-45DA-8B97-1B53AB8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3A82FD5-E719-401D-86DB-62654137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AUC 0.840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Acc 74.0%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Sens 74.0%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Spec 74.0%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01061E9-D06D-4830-BC4E-20D4F150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53FB3AD-7A6D-411A-B065-AFCD748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364F1EA-7DE9-466F-BD49-D986403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9209310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52C1A-5FF7-4720-9C82-2F9CE272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09E1D-6C8F-47D0-8044-B0A25AC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Foot Classification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1A5A3-D74F-4618-83E0-B1ED3A65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1EE72-8AF1-4A2F-901D-40DCA65C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7E5C8-44C9-4D08-AC92-F6AFA2D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366D2-BC6F-4514-86DD-D4940DCA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1EF94-572D-4361-BA61-FD6BBD5B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71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4024B-6C27-4B6B-AECE-9D29628D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0551F-FED3-4598-8970-9D19F57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E84E1-219D-4475-AF34-44291C74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0F2B1-9B96-4333-ADA5-5167796C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0CAB5-C967-4B23-A9AA-C90C7E23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E6785-B732-4755-8A1B-7C6B1B1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95D2E-2197-4D5E-AA44-C2117C08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F5D1B-0B48-4517-89F6-E720BEB8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716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F56BB-A7DA-4F6A-82FB-6B47257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DA546-C545-42AD-AE33-FFD385F8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D7B52-CEFA-4A14-8D32-5DA9C0CF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6B022-BBED-4EA9-976C-8714F625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859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3CAC6-5555-44DB-88BE-C5967C9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812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1D593-99EC-4B43-9B3E-D28AFD18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09CF2-22A1-4C74-81A1-505B3086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18CA3-7F34-4828-AF76-E74B7D4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E8EE6-80DC-46BC-BC83-7AA2180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72.0%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A35C9-8C18-4CA8-AD7B-12C8AF8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E12D4-A3D2-4923-93C7-7D090BD5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2CAF9-8352-41B5-8E86-A3B461FE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4BC39-A1C5-4985-8DFC-46E8BE2A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0.841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2B6E5-FE4C-4E76-A6DC-B248432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FDB5B-012D-4395-BC2B-35358C5A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955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A3FBF9-C076-4E73-BA57-5F05E2E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03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6BE99-CD75-47F8-8E14-9A38003A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955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E29A51-FFFD-407C-A0E0-F5A51E7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0D1C6-4C08-498A-A976-D6E77C15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70.0%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840DC-2371-4597-BC70-BA6F1730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3D000E-6878-459D-8B31-DB3B726C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68.0%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AE249D-0262-472F-933C-0F8469F4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3AAE34-7943-42C7-A0F3-346FB4B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72.0%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A2AA8F-131F-4073-B60A-E39FE39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003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47CDBF-E0E0-4A05-9BFF-1B9D445D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955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0.794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9A99AA-A6AE-429E-AFE2-04A65C2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162C88-E052-409E-9F64-239A2AF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RBF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50E8D3-2373-45AB-923A-181BD1A6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146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F65F09-FDFB-4A27-A0C6-846FBDF1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93A1B3-5946-4466-8516-778DCB0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2DD0C9-5D94-4096-B9B2-A0F88FA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68.0%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0188F9-E107-4A74-8181-36BE3B05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AFF6EF-4DCF-4F2E-97DD-62535E58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5625A6-EFD5-44ED-9B83-FDCA0465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30534B-CEDF-4348-A516-D16F5CDC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66.0%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1EAB72-4864-4550-B573-B37A22C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146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C50CCD-AD6C-4392-8D36-8A5443BA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0.766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87CE85-BC35-4A00-B085-2933D5F5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C69B34-634E-4907-A242-CBB96E2B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1D-ResNet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0CB1CB-03B6-4636-8335-4425A656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290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89D205-F6AF-4A0C-9549-30A3E816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242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563AA4-2C6A-4BED-AD7F-3E35D5D3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337BBB-C1CC-40B6-B970-ADF7DA0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65.0%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053D6D-D52D-414B-8BAB-5C0AA58E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301684-7F59-400B-B5D9-1FF1DAA0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46.0%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C80FEA-DDE9-4503-815F-2C7DB0E2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ACA4C-A226-44FF-88E3-026B3511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184B48-2674-4D5A-B857-77D73E38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290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17043E-6E94-40F4-9C15-0F1596AB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242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E3489B-BC0A-44BA-B34E-7CC7CCF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5FD9FF-2189-4C8C-978B-51599A02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9270CD-3AE2-46BF-A2D6-72E83CB8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43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0D089C-B8E6-4370-981A-42EDDB88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386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589386-057C-4134-B779-078A9771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6CA300-7879-421B-B25B-147DF31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57.0%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6E2579-0BA4-4E27-85A6-BABC8AD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E9EF96-A773-4C9C-96F5-179B8C7B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CA081DB-8C36-4E59-B043-EAF24EC0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0D5EB2-0C68-40F4-91C8-8B3F9AE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F22113-0E00-4BBE-8A79-196DEE70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433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4926AB-CB1F-456F-844B-0294E50D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386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0.480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C51511-BE08-4107-8BD1-D035ACF3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843283-2CEA-424F-AD04-CFEC271A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8CBC4A3-6706-41AC-B441-8BC53C6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9845AD-459E-4CB3-A7AB-438E9D72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529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2837890-54FA-4C47-B992-1C2C9BF3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38646D-42F3-4771-953B-8054CE73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55.0%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0E2F9AF-5E67-4292-964E-9B249385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AE643E-32B9-4CB6-8F63-0A3206D4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32.0%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0630CED-5981-4FB4-8324-1F81225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5FE7F9-47BE-4752-ABFE-0D3683BB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273B161-FC1A-4227-AE32-2629018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577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0A7D48B-37F2-4BC7-8668-40AA55C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0.530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4DD4FF5-53C2-4A5F-AEBD-F9F103A9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7968B8-D63E-4F59-852B-963E369B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D5B47A-CEC2-4D05-8872-98A294AE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720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0B0B9BA-D413-4D43-AE7B-92F7C36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673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FFFC032-6D92-449C-98EA-D76FFA6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6539481-E6A7-4675-82DA-389745B9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68.0%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BE82B70-E403-4CCF-B438-74362E96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AE354C5-7018-45BD-90E7-9DC47446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22018F7-FCED-4A5E-A557-EEF0A006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64773FC-C61E-4CCA-98B3-D7B65362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54.0%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EDC4A22-3BBF-4944-AC2C-92505347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720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20232D-FD2C-4E69-8A67-26C16D9A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673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0.738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473626C-C50D-4395-847F-DFBE14EA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F39D89-1198-431A-9009-33F23D5C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5CF6355-FE5F-4113-943E-FA798CAA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315429F-2B98-45D4-A9B9-9527C83A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AUC 0.841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Acc 74.0%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Sens 72.0%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Spec 76.0%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31C424D-D538-44E5-A366-E6BCAF50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F5FAAD-FBF3-45A3-86E2-37B28A9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FE471A-58F3-49EC-87A3-5048DD68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9334740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A5EC0-0D74-428B-904B-587212ED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0A2FC-1A26-4FD8-BA85-C5B8D5DF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Enhanced Feature Set Classification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10D8D-15CB-43DB-8F6D-33ABD9A6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9F01D-AD61-4C6C-A9E1-9660FC56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797A1-08FD-47EE-A255-AD0137E8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37843-BF63-4DDA-98CB-35FA9EDD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4B556-3E70-44D3-A839-F5572217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71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CE858-DD36-416E-B983-5493E614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36834-4A69-4DE1-9C1A-D0E17BEE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B735D-5710-46C3-9C81-F21A9796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FE938-6E14-4039-95B7-31C7E513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8968F-46C7-4678-B41A-CC150E53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33C76-CF4E-484A-ABD8-D27EAC48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2D1C8-BC31-4E98-ABEC-9384D72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668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63A36-2FD6-4E53-B4F6-12DDA4D4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716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F0165-24D5-4114-9386-D3D4A2AA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F0F0E-21F2-4BD7-80C2-7BC118C9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06F7F-F0E1-4F9C-AA33-C1A23925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20F6E-96E9-489F-BDFA-0F8230A5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859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CE3DC-057D-4B3B-80C0-78EE5C32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812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282D4-3113-4602-A183-22FFA13D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EE882-22FC-43E1-9A17-CFCBAAFC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2BFC5-740A-4D02-8EE6-B62C02F5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B2DA0-0B12-41FC-8B33-78890F96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0ACD5-062B-42B4-BCE9-536E85F9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859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C85F21-5379-4CC2-A2F7-CFE42E1C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812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0247E-9387-4088-B959-A1FF99F2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A93291-5182-4498-A333-365A8C29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812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63AD0C-A768-49A2-837C-69C758C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EBBD8-749A-43AE-8E8B-0D9F7B5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955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87FB5-5224-451B-80EE-4C0FDFA6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03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C02F31-20CF-4A04-A234-3995E345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955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A62212-B521-4172-8E95-1266613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01A86-20D5-48CF-A8E0-57C431D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79.0%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28340D-BED3-4C68-907F-608E4AEA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005D1F-1756-4282-B091-CF27FA42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12A634-F848-41A9-BDD6-61D4C68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03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6D7983-9E71-4B81-B57B-E4ED0BCB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988992-540A-4B11-9E44-06DEAA2A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003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331BA7-DDBD-438F-B050-A371F98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955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0.870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C1FD33-B813-4A00-AFAC-580727BC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D7D9DF-C00B-4178-A5B1-906A2626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RBF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40DE15-23D6-4FDB-B6BD-0D24C484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146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75AB7F-C3F6-40C1-8959-E619DC0E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7301AE-5699-4395-BCC8-CC0722E1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D06C3F-EB24-4D78-A5DD-262B774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1C2A32-EF14-4DC3-834C-3877D4DB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0145B0-7CD8-42E5-864D-4CAE0099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0A122B-50A9-4746-BB0C-AB66DAE7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146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1C347B-76A6-4686-B315-848CB788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99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3E5F80-F0B5-4F87-B921-4615C2A8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146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8251E0-69A7-410A-851C-7D7FFE7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0.846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BD244C-546B-46B3-A60B-CF534DF1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5A1AF9-B915-44AA-9CC6-8B7F9E32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1D-ResNet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59FBB0-9E88-456C-BB5F-9C801197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290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8E86C3-BFAA-4489-BF5E-E0CA3043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242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6B1530-7805-4BD4-9DF7-BCB9B81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3BD6AF-0C9E-412D-A966-899307FE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69.0%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F5F4B1-6392-4A99-AFF3-78DCAEED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4A745E-D45E-429F-928F-5EEE2182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A8D584-6309-4EFD-B419-39C3288D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290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AE9E14-8D7B-4EAE-8E6F-70A75328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88.0%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E4392A-0523-4DC0-B427-140BFC2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290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14189A-DB63-4C19-A8BC-7318698E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242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0.692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052CA6-5E4F-4CF9-9C9F-28645A0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5512DF-9456-4CA4-AEE5-31A4E58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LSTM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B1B6B1-12E8-4D06-89E4-FFCD7734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433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F27B9C-5531-407A-BBA6-055185B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386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F028AC-45C4-486C-A07A-74F2B51F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CB21BB-2415-4AB5-B03E-4C94FC6D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60.0%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71D02BE-DD25-47DF-BE32-4BD8FC6D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216C9A4-8CF9-4140-8165-BD471E27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56.0%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1C23C1-55E1-4FC5-B703-C10317C9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9ABF0C-94FA-4EC3-921E-92CBEFA1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64.0%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BF7CE6-9907-4879-BF07-CB75FDD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433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DEC7CF-F58A-4A83-B770-35556054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386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0.684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A4E139-3843-448F-A107-44FE2CB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541EA0-473F-4C31-B986-523A597A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FD3C27-B821-43C4-A898-308CC091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B75132-7ECC-4579-9345-8A2707AE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529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7EA43C-A3A1-4B81-8D70-32C81A84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3AD5C67-C75F-42B9-BCBB-D2B95A1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63.0%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6151395-719C-4EC1-8B87-CC4D7F0C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ACAEBE6-F7D8-4D04-8B4E-D599682C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72.0%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935DDD4-F231-4764-90F2-46253AE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390DB0-9701-4A08-B0F3-A3D8776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54.0%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F55DDE-2300-4E8D-8BEB-B3B4966B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5772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F36DF7-3227-4D54-A86E-A8264E27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0.708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237F137-6284-431E-A640-B6AFF3C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569D608-319D-4E05-8763-DD28E152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45908E8-62A0-4F67-803A-6DF86DBE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720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F7748D4-8AB6-48B2-B4A3-8CD9BD2F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6732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Feature vector NN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C827A8-EF0D-4C3A-AFC7-1EA43FA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0C664AE-E603-4EEC-98D6-8A6FFA50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70.0%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83491F-C546-4DB8-A0B0-7FB9314A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9ADDAF1-BD13-426A-91B8-16C99C95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39ED70-FDF1-43EF-B292-4F5698B4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720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7C3DFC-80CF-4048-B3EB-585F2882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67325"/>
            <a:ext cx="12668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66.0%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BC4BB3-3FE8-4055-82D7-F515D340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72075"/>
            <a:ext cx="109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077932-D1F2-40FF-9270-88DC5370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67325"/>
            <a:ext cx="98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0.790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6B95AA3-3968-4280-B0A9-90DFA0E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A25DACD-B984-43FB-8CFD-4607176D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C60F730-711D-40B0-868A-D39079F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CFF1B4-F7D3-49C9-945A-9FF84189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AUC 0.870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Acc 79.0%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Sens 84.0%</a:t>
            </a:r>
          </a:p>
          <a:p xmlns:a="http://schemas.openxmlformats.org/drawingml/2006/main">
            <a:pPr algn="l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Spec 74.0%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F8C1595-EF4F-42CD-80CC-A8C6C02A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59B33F-9839-4F1E-9803-2437D2E6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73B8F69-564A-421E-BFC0-8B021FD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426267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59631-89C7-401F-9926-76DD9F1D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D8190-8018-4C85-9C7A-B3338B16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 Confusion Matrices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2DAD5-FB54-4D4D-900D-A3982A1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604A1-9E4F-4F92-9544-A5793591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8d1743c1b4e47"/>
          <a:stretch xmlns:a="http://schemas.openxmlformats.org/drawingml/2006/main"/>
        </p:blipFill>
        <p:spPr>
          <a:xfrm xmlns:a="http://schemas.openxmlformats.org/drawingml/2006/main">
            <a:off x="619125" y="2059781"/>
            <a:ext cx="10953750" cy="27384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11F52-2262-48AD-AB8E-19902939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F4C7C-3FEF-41C9-B4F7-20F01258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76875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3C2F3-AC7F-442F-B0C3-704F8F1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362D0-5F38-4FCC-85BA-531168A2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7687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15A2C-5EA5-446F-B4DA-808A0652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A64A3-63DC-4525-AC8B-0C47C224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768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58E78-F648-405C-A2E3-15B6786D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816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D7A72-95F5-481C-9531-BF568937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768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731E2-1664-4184-AA23-821757D9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816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C301F-09AE-4CEF-9A6B-50DBA3E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768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9F4EE-23D5-4E0C-8159-5EC9344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816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AA737-8CC2-4D30-924A-E738DE9C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768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2E94B-F858-410E-83EB-6C3C844B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911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EC147-1B0F-4F87-BF29-98B0BA25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86425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84258-2454-4F07-A85A-6F4FF2CF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911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4A7C6-373D-467A-B45B-873C47E0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E062B-5F52-40CC-9B7D-9BF06BF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911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B3B43-696C-47B2-BA34-D5F2505B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864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ACC2A-AA06-48D2-9877-238DDB3B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911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7D173-95D5-4B8F-900E-391B220A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864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D59FF-174C-42E2-8BB3-1B12CC8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911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83D94-5A66-4FD2-9CB8-60D0AB1A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6864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7407D-1EC8-49CC-9B8A-3AE9639A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911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EA5FC5-2CB1-484D-A8A7-3BB1004F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6864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CBA2D5-F47D-4952-A1FD-68C9C2B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007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000CF-4813-4CD8-B191-F5AD7E1A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95975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enhanced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FC9925-8FF9-47ED-8868-24374FFD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007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0E2A1-73FB-4502-9FD8-13F3B039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89597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E995D-17FB-43D9-8F85-15A29446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007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605CB4-8367-4A27-889B-18EA451C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8959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F922FD-8DD9-4168-A620-9823983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007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035563-24AA-49EF-BBB1-87C49AFF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8959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47E1BE-4295-4E46-B1D1-315148FC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007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810ABF-C370-4750-B7FC-4B7F1F10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8959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99B09B-E2C0-4133-984D-F08A6EAE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007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BA8291-766B-4FC3-AFF0-5B626557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8959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F4AFA1-8DED-4178-9AAC-18D1118F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102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96CE44-B712-4D9C-B509-2EE13B9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05525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left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B3E59F-FA50-4FA7-9C1A-61758F3F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102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F523C0-594F-45C8-B63E-5DDBF2AE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10552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7A3A4E-409C-4655-917B-190B7B1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102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2E6131-D34F-4255-B6A3-3ADAFE7F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1055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0C5E91-0030-4551-B1FB-1B6489F9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0102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763261-0864-4DF6-AD0A-42AF7393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1055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7C4614-B8E1-4C62-AA7C-A53E75BC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102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6D1BBF-75DD-431B-97AA-0786B52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1055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05B032-05E3-4BE5-85DC-81DD7DBB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0102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EB4C4B-77DC-4722-8657-BDB6E127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10552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8997E9-E0FE-401A-9E73-C28A65E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198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43E60C-86A4-4A37-8742-308979A0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315075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right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D7D8B7-80A4-4C79-9864-934CBB80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198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0C0C2A-49F3-4C56-BA8D-15199FA2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31507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1AC27C-3DD2-4BB7-9FD1-017C587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198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963E26-6FB8-4D35-A0A2-8B14979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3150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A20671-E0C4-4A8C-A55B-81C112C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2198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5920E7-387D-46EE-8D1A-9591876F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3150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5074C9-BEE7-4A78-9DC5-850E9356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98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A20A82-20D2-4770-9995-C1FCA24D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3150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2D0822-2524-4E17-AA77-D37E9BB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2198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83241E-DD28-4A1B-ACFA-E27C17FF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315075"/>
            <a:ext cx="6953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32E887-565E-45ED-A1BE-85C893F9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61654E-3EED-4646-8ACA-5D5B4D88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63BF4A-2880-4219-A0E7-41CCA15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277293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966CC-13E8-4F74-8918-68A5994B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EAA67-2573-48F8-927F-8CFF030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E1E8A-1BC6-4E65-9967-7E035DE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64001-EF9A-4CF6-8543-D6F909D1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1DCEF-4C59-42F4-B94A-4FC77BF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F9E2A-085B-4F52-A9EB-B44AD853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3620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A6B54-3F38-479C-88C7-81AEE05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45C50-74E4-4A6A-B334-C81DDE5A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762125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6BBAB-E386-40C5-99C8-8D210EA1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01F09-64F1-4B23-BA1C-D34C297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62125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5324E-CF95-4E45-B18A-5680F39C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668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7FB73-3BA5-425F-99BA-E2DADCBA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7621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C5012-2573-4DC2-912A-A0469446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668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247D3-3B5F-4B64-8CCB-EA55C045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621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7A60C-252B-4017-BF25-A6857438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66875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E906B-19F9-4369-90F7-55AE40E3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62125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440C0-B97D-4593-972C-0150DA04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E629A-EF80-466E-B537-7CD9B88D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13620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515F6-2E70-4F2D-B916-8A187DC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621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5AA62-AD19-46EA-A57C-F150D0B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257425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193D3-4755-41B2-B588-E436E05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621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DB567-9D45-4AEF-ACF0-153F510A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57425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C63CA-00A9-472E-823A-B864C701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621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04FB1-C42D-4AA8-B934-6F23452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574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72.0%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450D5-A064-4582-9A18-01D26754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621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70D39-3552-49C6-A72D-3E2F9D3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574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5747E-96ED-49A0-A236-C37B170C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62175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F6101-04AB-4E25-92C3-3F4725B1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57425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0.841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AC026-5A75-4E9B-B95E-ADFBA2DD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A013A-456E-4FA7-BB45-AF195B76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52725"/>
            <a:ext cx="13620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enhanced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FB1F2-02B6-496A-8E68-FF3C485F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57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B4708E-0999-468A-B076-7F0E7483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752725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SVM linear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92E025-7549-40EE-A253-F2814679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574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E5337-0142-4055-9AA6-541DE59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52725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79.0%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C50FDB-B73B-4D4D-A93A-1BA44A06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574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54043A-68E6-4212-A691-A506BD6A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527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0C4CF-61F3-4CAE-BC20-B08B7D6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574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E0161-8862-44A1-981B-6B5B6A8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527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A37DD7-E091-40F0-ACD7-DB3236B5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57475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314056-40F0-4988-B432-1A4B2F9B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52725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0.870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6D3566-5218-499F-934A-D2E5AFA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58CC08-4CA6-4CBA-B2DC-1ABDEC60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13620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left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93BFC7-12C4-4342-B157-C5211B3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52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42D6F5-4B99-41A1-A9F6-98A8CF66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48025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8A82FE-0593-404A-BC9D-5480D1D0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52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840017-2AFA-47D5-91CB-46C48BC1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248025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73.0%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B8A053-CB71-4DE3-AC04-26C9EE8C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527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E9E569-92BD-435B-9BA2-E1D3E43A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480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72.0%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EF52CB-0F95-4594-865C-8384AA59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527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F7AEC0-8D94-4C7B-BB92-C5843A50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2480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942CA6-AF80-40D3-93CA-F1DB6726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52775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8C56B6-195D-4292-B587-C599D1A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48025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3A2AEB-AC09-4555-BEB0-3B94310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1476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D08C86-1FE6-4B53-AD25-D17A8B6A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3620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A32"/>
                </a:solidFill>
                <a:latin typeface="Aptos"/>
                <a:ea typeface="Aptos"/>
                <a:cs typeface="Aptos"/>
              </a:rPr>
              <a:t>right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8EF40D-304D-4A89-B38B-0BD408CD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480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6403E2-9058-4761-8875-444759CE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743325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60601D-109E-4123-B8E5-4AFF9477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480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E8A1C2-4AFC-4534-A46D-B1AF2B40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43325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1009A9-93D5-46CA-B18E-3411796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480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50DC76-8D76-41C5-981F-5D461EB9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433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BA280D-DAEE-405A-A85D-1E3554EB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480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88A906-0BF1-4D75-B79B-5850056C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433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74.0%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542B66-BE1F-46FB-9D84-ADD08DAC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48075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07D3FF-9308-4CF6-8C84-ECAF0A96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743325"/>
            <a:ext cx="1028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E2A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A32"/>
                </a:solidFill>
                <a:latin typeface="Aptos"/>
                <a:ea typeface="Aptos"/>
                <a:cs typeface="Aptos"/>
              </a:rPr>
              <a:t>0.840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FFC9D0-B4E3-4200-B32A-27CF5F0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09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Classical feature models are strongest under the strict fold-local feature protocol.</a:t>
            </a:r>
          </a:p>
          <a:p xmlns:a="http://schemas.openxmlformats.org/drawingml/2006/main">
            <a:pPr algn="l">
              <a:defRPr sz="142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Enhanced Linear-SVM reaches 79.0% mean held-out accuracy with sensitivity 84.0%, specificity 74.0%, and AUC 0.870.</a:t>
            </a:r>
          </a:p>
          <a:p xmlns:a="http://schemas.openxmlformats.org/drawingml/2006/main">
            <a:pPr algn="l">
              <a:defRPr sz="142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Enhanced Random Forest has the best held-out AUC among the classical models.</a:t>
            </a:r>
          </a:p>
          <a:p xmlns:a="http://schemas.openxmlformats.org/drawingml/2006/main">
            <a:pPr algn="l">
              <a:defRPr sz="142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Feature-vector PatchTST is the strongest neural variant on the enhanced scope.</a:t>
            </a:r>
          </a:p>
          <a:p xmlns:a="http://schemas.openxmlformats.org/drawingml/2006/main">
            <a:pPr algn="l">
              <a:defRPr sz="142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LSTM/GRU remain unstable with only 60 training subjects per fold.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59E38D-9A99-4F97-A58C-20AB07C5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18CB44-D5CB-444F-996E-0C1ECF7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9F41A8-3C72-4A3D-99CD-C60D919E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0134903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3AB2F-9918-4DFA-A361-40B96CF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3A6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6293-516A-482D-A28C-F3C5CF6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Recommended Next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F91D2-6CF9-4B65-8CAF-0ACA970D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66675" rIns="7620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Deliverable 2 - Baseline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4E61C-0C46-4934-873E-AF852B5C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86E"/>
          </a:solidFill>
          <a:ln xmlns:a="http://schemas.openxmlformats.org/drawingml/2006/main" w="0">
            <a:solidFill>
              <a:srgbClr val="2F58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493C-A61D-4E87-8D92-D70E78E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953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Try a small hyperparameter grid for feature-vector neural models after the fold-safe baseline is locked.</a:t>
            </a:r>
          </a:p>
          <a:p xmlns:a="http://schemas.openxmlformats.org/drawingml/2006/main">
            <a:pPr algn="l">
              <a:defRPr sz="15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Run full EfficientFCParameters extraction for all 100 fold subjects and compare it with the current curated TSFresh set.</a:t>
            </a:r>
          </a:p>
          <a:p xmlns:a="http://schemas.openxmlformats.org/drawingml/2006/main">
            <a:pPr algn="l">
              <a:defRPr sz="15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Use TSFresh's relevance filter as a secondary feature-selection experiment; the quick probe improved RBF-SVM AUC but did not beat Linear-SVM accuracy.</a:t>
            </a:r>
          </a:p>
          <a:p xmlns:a="http://schemas.openxmlformats.org/drawingml/2006/main">
            <a:pPr algn="l">
              <a:defRPr sz="15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Add cohort-stratified reporting because Ga, Si, and Ju were collected under different walking conditions.</a:t>
            </a:r>
          </a:p>
          <a:p xmlns:a="http://schemas.openxmlformats.org/drawingml/2006/main">
            <a:pPr algn="l">
              <a:defRPr sz="15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Inspect fold-level errors to identify subjects repeatedly confused across models.</a:t>
            </a:r>
          </a:p>
          <a:p xmlns:a="http://schemas.openxmlformats.org/drawingml/2006/main">
            <a:pPr algn="l">
              <a:defRPr sz="1575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Keep Mamba separate for a later deliverable, after these non-Mamba baselines are locked.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7838-DF2B-4220-AE49-74491B5B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E"/>
          </a:solidFill>
          <a:ln xmlns:a="http://schemas.openxmlformats.org/drawingml/2006/main" w="0">
            <a:solidFill>
              <a:srgbClr val="CBD5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41D01-ABB6-4560-93F2-84C159C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3A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3A63"/>
                </a:solidFill>
                <a:latin typeface="Aptos"/>
                <a:ea typeface="Aptos"/>
                <a:cs typeface="Aptos"/>
              </a:rPr>
              <a:t>Deliverable 2 artifacts generated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D8635-064F-4121-9EB2-9A76A84C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8191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results/tables/deliverable2_model_summary.csv</a:t>
            </a:r>
          </a:p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results/tables/deliverable2_fold_metrics.csv</a:t>
            </a:r>
          </a:p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results/tables/deliverable2_fold_safe_feature_audit.csv</a:t>
            </a:r>
          </a:p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results/tables/deliverable2_research_feature_notes.csv</a:t>
            </a:r>
          </a:p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results/tables/deliverable2_tsfresh_relevance_probe_summary.csv</a:t>
            </a:r>
          </a:p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Deliverable2_FoldSafe_Implementation.ipynb</a:t>
            </a:r>
          </a:p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results/figures/deliverable2_metric_summary.png</a:t>
            </a:r>
          </a:p>
          <a:p xmlns:a="http://schemas.openxmlformats.org/drawingml/2006/main">
            <a:pPr algn="l">
              <a:defRPr sz="900" b="0">
                <a:solidFill>
                  <a:srgbClr val="1E2A3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E2A32"/>
                </a:solidFill>
                <a:latin typeface="Arial"/>
                <a:ea typeface="Arial"/>
                <a:cs typeface="Arial"/>
              </a:rPr>
              <a:t>• results/figures/deliverable2_best_confusion_matrices.png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262A2-1229-49CD-808B-615C226F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4763">
            <a:solidFill>
              <a:srgbClr val="CBD5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3EF77-9D2D-416F-9B30-C4F2B04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6610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Deliverable 2 - PD Gait Baseline Models  |  FAU Erlangen-Nürnberg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0B5E7-5556-4DB5-A80A-EE689DBF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1035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B7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B76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626933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2026-06-05T10:00:40.1430000Z</dcterms:created>
  <dcterms:modified xsi:type="dcterms:W3CDTF">2026-06-05T10:00:40.1430000Z</dcterms:modified>
</coreProperties>
</file>