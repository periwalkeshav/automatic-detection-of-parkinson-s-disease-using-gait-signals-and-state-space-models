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30eee724bafa4f6a" /><Relationship Type="http://schemas.openxmlformats.org/officeDocument/2006/relationships/extended-properties" Target="/docProps/app.xml" Id="Rb51befb6fc2f44f7" /><Relationship Type="http://schemas.openxmlformats.org/officeDocument/2006/relationships/officeDocument" Target="/ppt/presentation.xml" Id="R6f163c4f8e9442f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87986c80fd24c53"/>
  </p:sldMasterIdLst>
  <p:notesMasterIdLst>
    <p:notesMasterId xmlns:r="http://schemas.openxmlformats.org/officeDocument/2006/relationships" r:id="Re9a8c771a8844f9e"/>
  </p:notesMasterIdLst>
  <p:sldIdLst>
    <p:sldId xmlns:r="http://schemas.openxmlformats.org/officeDocument/2006/relationships" id="256" r:id="R45d9e1e7b3274ca9"/>
    <p:sldId xmlns:r="http://schemas.openxmlformats.org/officeDocument/2006/relationships" id="257" r:id="R1cfb690292cb409b"/>
    <p:sldId xmlns:r="http://schemas.openxmlformats.org/officeDocument/2006/relationships" id="258" r:id="Rf9ff6b209dbc41ce"/>
    <p:sldId xmlns:r="http://schemas.openxmlformats.org/officeDocument/2006/relationships" id="259" r:id="R55f2de7bff0c4af2"/>
    <p:sldId xmlns:r="http://schemas.openxmlformats.org/officeDocument/2006/relationships" id="260" r:id="Rdc2f01d0c97f4477"/>
    <p:sldId xmlns:r="http://schemas.openxmlformats.org/officeDocument/2006/relationships" id="261" r:id="Ra188bb3ed5884c65"/>
    <p:sldId xmlns:r="http://schemas.openxmlformats.org/officeDocument/2006/relationships" id="262" r:id="R61d7d8d34aa549c6"/>
    <p:sldId xmlns:r="http://schemas.openxmlformats.org/officeDocument/2006/relationships" id="263" r:id="R73680e53818b4f84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d09f1dd1772425c" /><Relationship Type="http://schemas.openxmlformats.org/officeDocument/2006/relationships/slideMaster" Target="/ppt/slideMasters/slideMaster1.xml" Id="R687986c80fd24c53" /><Relationship Type="http://schemas.openxmlformats.org/officeDocument/2006/relationships/notesMaster" Target="/ppt/notesMasters/notesMaster1.xml" Id="Re9a8c771a8844f9e" /><Relationship Type="http://schemas.openxmlformats.org/officeDocument/2006/relationships/presProps" Target="/ppt/presProps.xml" Id="R5a569c2f2d7c4285" /><Relationship Type="http://schemas.openxmlformats.org/officeDocument/2006/relationships/viewProps" Target="/ppt/viewProps.xml" Id="R9d4c6bf87fba47cf" /><Relationship Type="http://schemas.openxmlformats.org/officeDocument/2006/relationships/tableStyles" Target="/ppt/tableStyles.xml" Id="R1e7b3a94551547d7" /><Relationship Type="http://schemas.openxmlformats.org/officeDocument/2006/relationships/slide" Target="/ppt/slides/slide1.xml" Id="R45d9e1e7b3274ca9" /><Relationship Type="http://schemas.openxmlformats.org/officeDocument/2006/relationships/slide" Target="/ppt/slides/slide2.xml" Id="R1cfb690292cb409b" /><Relationship Type="http://schemas.openxmlformats.org/officeDocument/2006/relationships/slide" Target="/ppt/slides/slide3.xml" Id="Rf9ff6b209dbc41ce" /><Relationship Type="http://schemas.openxmlformats.org/officeDocument/2006/relationships/slide" Target="/ppt/slides/slide4.xml" Id="R55f2de7bff0c4af2" /><Relationship Type="http://schemas.openxmlformats.org/officeDocument/2006/relationships/slide" Target="/ppt/slides/slide5.xml" Id="Rdc2f01d0c97f4477" /><Relationship Type="http://schemas.openxmlformats.org/officeDocument/2006/relationships/slide" Target="/ppt/slides/slide6.xml" Id="Ra188bb3ed5884c65" /><Relationship Type="http://schemas.openxmlformats.org/officeDocument/2006/relationships/slide" Target="/ppt/slides/slide7.xml" Id="R61d7d8d34aa549c6" /><Relationship Type="http://schemas.openxmlformats.org/officeDocument/2006/relationships/slide" Target="/ppt/slides/slide8.xml" Id="R73680e53818b4f8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33e09f3dcef1483c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527b552e6742f4" /><Relationship Type="http://schemas.openxmlformats.org/officeDocument/2006/relationships/notesMaster" Target="/ppt/notesMasters/notesMaster1.xml" Id="R7bf5c09bf73c4e6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0c9c0fbdded43bb" /><Relationship Type="http://schemas.openxmlformats.org/officeDocument/2006/relationships/notesMaster" Target="/ppt/notesMasters/notesMaster1.xml" Id="Rbe862540789143e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9643456b018e40fd" /><Relationship Type="http://schemas.openxmlformats.org/officeDocument/2006/relationships/notesMaster" Target="/ppt/notesMasters/notesMaster1.xml" Id="Raddf02a1ea9d4407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8ba7c88922da44d0" /><Relationship Type="http://schemas.openxmlformats.org/officeDocument/2006/relationships/notesMaster" Target="/ppt/notesMasters/notesMaster1.xml" Id="R2b9cd304952e48b1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2f5ca1553c024db0" /><Relationship Type="http://schemas.openxmlformats.org/officeDocument/2006/relationships/notesMaster" Target="/ppt/notesMasters/notesMaster1.xml" Id="Rc646bec5fc9c4e71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b4762baba0164fa2" /><Relationship Type="http://schemas.openxmlformats.org/officeDocument/2006/relationships/notesMaster" Target="/ppt/notesMasters/notesMaster1.xml" Id="R99bdb3eacd874a7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9424b2cc480f4688" /><Relationship Type="http://schemas.openxmlformats.org/officeDocument/2006/relationships/notesMaster" Target="/ppt/notesMasters/notesMaster1.xml" Id="R088d95d0396741dd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1183d47d696a4bae" /><Relationship Type="http://schemas.openxmlformats.org/officeDocument/2006/relationships/notesMaster" Target="/ppt/notesMasters/notesMaster1.xml" Id="Rba4c434be27c454b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9a27141dc77465c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6559a24f5bc4001" /><Relationship Type="http://schemas.openxmlformats.org/officeDocument/2006/relationships/slideLayout" Target="/ppt/slideLayouts/slideLayout1.xml" Id="R7c08f587a3984e7f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c08f587a3984e7f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602203f7baa4730" /><Relationship Type="http://schemas.openxmlformats.org/officeDocument/2006/relationships/notesSlide" Target="/ppt/notesSlides/notesSlide1.xml" Id="R54b8207d9a954b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4c7e1e3a54382" /><Relationship Type="http://schemas.openxmlformats.org/officeDocument/2006/relationships/notesSlide" Target="/ppt/notesSlides/notesSlide2.xml" Id="R22b0be4921a04d3f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a4e757e6b5e41b1" /><Relationship Type="http://schemas.openxmlformats.org/officeDocument/2006/relationships/notesSlide" Target="/ppt/notesSlides/notesSlide3.xml" Id="R1d5590c383af47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38e9205aa346ed" /><Relationship Type="http://schemas.openxmlformats.org/officeDocument/2006/relationships/notesSlide" Target="/ppt/notesSlides/notesSlide4.xml" Id="Ra3c40d0ee20247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26df0aba24a2b" /><Relationship Type="http://schemas.openxmlformats.org/officeDocument/2006/relationships/notesSlide" Target="/ppt/notesSlides/notesSlide5.xml" Id="Re47f643e265f476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fed4f00405490f" /><Relationship Type="http://schemas.openxmlformats.org/officeDocument/2006/relationships/notesSlide" Target="/ppt/notesSlides/notesSlide6.xml" Id="R93c0f3daa1a947b1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9528582df2c4986" /><Relationship Type="http://schemas.openxmlformats.org/officeDocument/2006/relationships/image" Target="/ppt/media/image.png" Id="Ra235b89bca614d0e" /><Relationship Type="http://schemas.openxmlformats.org/officeDocument/2006/relationships/image" Target="/ppt/media/image2.png" Id="Rb3cbadff255046da" /><Relationship Type="http://schemas.openxmlformats.org/officeDocument/2006/relationships/notesSlide" Target="/ppt/notesSlides/notesSlide7.xml" Id="R59348e0a67b64672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7d74b87aa2f4dbb" /><Relationship Type="http://schemas.openxmlformats.org/officeDocument/2006/relationships/notesSlide" Target="/ppt/notesSlides/notesSlide8.xml" Id="Rf12a82db3f2a44c2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C509BEA-55A3-4153-8ED4-C77DEA2D31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8FAFB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F26979A-1679-4D4F-A686-1CEF2E7FC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114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312EE1C-39A5-400F-9DB5-A9BD13109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81915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8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Parkinson's Disease Detection from Gait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D0B72C3-053F-43CF-8488-2A068313F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90650"/>
            <a:ext cx="8096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5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Task 1 + Task 2 results with fold-safe Efficient TSFresh feature extraction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A59B2FF-2EA5-484B-9A74-D61D164DDC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95500"/>
            <a:ext cx="9810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D94FC03-2BDC-43B8-A896-F19D8AFC4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25527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010B419-C80D-4E89-8A8D-CE288ACB1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860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83.0%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AF2537-29C1-4456-BB20-A3701627B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861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Best mean test accuracy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C35BCF-0D26-45F0-AE80-34022586C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527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9F4AC43-D9A2-42D5-9A1E-BF05C0938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26860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3D6EA8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3D6EA8"/>
                </a:solidFill>
                <a:latin typeface="Aptos"/>
                <a:ea typeface="Aptos"/>
                <a:cs typeface="Aptos"/>
              </a:rPr>
              <a:t>0.912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EBCAF26-249B-4DAF-9421-5793E192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0861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Best mean test AUC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08806D5-9F66-40E5-B705-72C51863E0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05450" y="2552700"/>
            <a:ext cx="209550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6EF547-9A51-4255-A0D5-8B0CD57B1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686050"/>
            <a:ext cx="17526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4F7D61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4F7D61"/>
                </a:solidFill>
                <a:latin typeface="Aptos"/>
                <a:ea typeface="Aptos"/>
                <a:cs typeface="Aptos"/>
              </a:rPr>
              <a:t>5 folds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A195A00-DD37-4EF6-8926-E8DB77AA17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3086100"/>
            <a:ext cx="17526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Train / validation / test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0CA0B1-92CC-428A-A2DD-FE722C3732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86700" y="2552700"/>
            <a:ext cx="2381250" cy="914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2F5"/>
          </a:solidFill>
          <a:ln xmlns:a="http://schemas.openxmlformats.org/drawingml/2006/main" w="9525">
            <a:solidFill>
              <a:srgbClr val="D8E0E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7411A75-A404-4D4E-80A7-3B8D0E3478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2686050"/>
            <a:ext cx="203835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B9822E"/>
                </a:solidFill>
                <a:latin typeface="Aptos"/>
                <a:ea typeface="Aptos"/>
                <a:cs typeface="Aptos"/>
              </a:defRPr>
            </a:pPr>
            <a:r>
              <a:rPr sz="2250" b="1">
                <a:solidFill>
                  <a:srgbClr val="B9822E"/>
                </a:solidFill>
                <a:latin typeface="Aptos"/>
                <a:ea typeface="Aptos"/>
                <a:cs typeface="Aptos"/>
              </a:rPr>
              <a:t>84,430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5F31EE5-3347-4C10-9A3F-ADB8EF72B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58150" y="30861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Efficient feature columns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89862D-5C67-4FD8-8691-E062A4A58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095750"/>
            <a:ext cx="9334500" cy="647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5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Main result: Linear SVM and Random Forest cross 80% under the corrected split protocol. TSFresh feature selection is useful in left/enhanced views, but the combined-view Linear SVM remains the strongest simple baseline.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BA6DAE9-9EE4-4C09-A207-96EF67B79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Generated from results/tables/deliverable2_model_summary.csv</a:t>
            </a:r>
          </a:p>
        </p:txBody>
      </p:sp>
    </p:spTree>
    <p:extLst>
      <p:ext uri="{BB962C8B-B14F-4D97-AF65-F5344CB8AC3E}">
        <p14:creationId xmlns:p14="http://schemas.microsoft.com/office/powerpoint/2010/main" val="478900785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0DF44D-70B8-43CE-A35E-21B63A339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D8BA672-CF6E-497F-B755-08E85E50FC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948C32-BBA7-4CC7-BC78-61C01B6657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PROTOCOL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2FA8D01-D95A-40C5-A669-E79628FD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Every fold follows train -&gt; validation -&gt; test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505BACF-AE73-4E95-A431-070ADD4B4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No feature selection, scaling, tuning, or classifier fit uses validation/test labels.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C801B65-4FDA-476A-B42B-9D125031F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Task 1 + Task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DBE592D-EC1D-4577-BFE5-255F71753A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3812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AF2F4"/>
          </a:solidFill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A11490-0A17-47FD-B3A4-38B8E3326F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2590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Train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605039C-BC63-4010-8EA4-029D959AC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0099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Efficient TSFresh fixed calculators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FE6BB14-1F21-4091-809F-F8ABB0AE6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5850" y="3409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Fit imputer, z-score, feature selection, classifier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FCD30E1-2C37-4163-BF07-7E24910C3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24300" y="30099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375A832-493C-49BD-8951-9BD920EC9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9432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9AD8754-1A9E-4E5C-8DA4-BBFF91DC6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3812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EF3EA"/>
          </a:solidFill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93D0917-88C2-4785-8F51-F61F327C3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90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4F7D61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4F7D61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466F237-3D41-4A7F-904D-8DBDBC38B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No fitting of learned transforms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3A2A6C7-9716-4D45-99CD-B1220926B5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09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Select classifier hyperparameters and neural grid candidate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C55334-CD57-4AE3-834A-B83721CA42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009900"/>
            <a:ext cx="36195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52E4A9F-D420-45F7-BACB-602F733C43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48600" y="2943225"/>
            <a:ext cx="152400" cy="152400"/>
          </a:xfrm>
          <a:prstGeom xmlns:a="http://schemas.openxmlformats.org/drawingml/2006/main" prst="triangle">
            <a:avLst/>
          </a:prstGeom>
          <a:solidFill xmlns:a="http://schemas.openxmlformats.org/drawingml/2006/main">
            <a:srgbClr val="C9D2D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E967369-3C0C-49D8-B364-FAC82ABA5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2381250"/>
            <a:ext cx="2857500" cy="1619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EFE7"/>
          </a:solidFill>
          <a:ln xmlns:a="http://schemas.openxmlformats.org/drawingml/2006/main" w="9525">
            <a:solidFill>
              <a:srgbClr val="CAD6DC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CAAF08A-4369-4C32-AE7C-0B99F1552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2590800"/>
            <a:ext cx="23812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725" b="1">
                <a:solidFill>
                  <a:srgbClr val="B9822E"/>
                </a:solidFill>
                <a:latin typeface="Aptos"/>
                <a:ea typeface="Aptos"/>
                <a:cs typeface="Aptos"/>
              </a:defRPr>
            </a:pPr>
            <a:r>
              <a:rPr sz="1725" b="1">
                <a:solidFill>
                  <a:srgbClr val="B9822E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D2A83E7-F500-4857-8A1D-746172B6EC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009900"/>
            <a:ext cx="2381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0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Held out until final evaluation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D9FF7CA-C175-4A96-B673-7151C17A05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409950"/>
            <a:ext cx="2381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Report accuracy, sensitivity, specificity, AUC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06FCAD3-BCC0-4BE3-907C-4CEBE6AB48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14850"/>
            <a:ext cx="95250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Important distinction: EfficientFCParameters is a fixed feature calculator, not a learned estimator. The cached subject features avoid repeated computation; all learned preprocessing and selection are still fit inside the training split.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3679E11-419B-450A-AB1E-EA31AD72C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Fold-safe Efficient TSFresh pipeline</a:t>
            </a:r>
          </a:p>
        </p:txBody>
      </p:sp>
    </p:spTree>
    <p:extLst>
      <p:ext uri="{BB962C8B-B14F-4D97-AF65-F5344CB8AC3E}">
        <p14:creationId xmlns:p14="http://schemas.microsoft.com/office/powerpoint/2010/main" val="157340339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3977419-8E05-4CD1-8CD3-737AD0724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DECB318-8B40-49E3-84DE-2B8570BDE8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BF42183-3CCD-42C5-8496-7EE5946C2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TASK 1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A48ADC6-F794-4711-BD50-C6F6CD1C9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Fold distribution and feature extraction audit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1E3C819-F18F-4921-99FD-B37D534E6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Efficient TSFresh produced consistent fold-local matrices for all train/validation/test splits.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EA39A6-23A6-4F9E-9926-59A8ACC65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Task 1 + Task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15E8740-D379-40D7-B118-B1FCB3FFE7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1336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F0B31C-F6E2-49D8-AA43-FD4DB7E93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219325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Fold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CA82B9B-23AC-4756-B788-8EF2212F5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1336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D12B19-6585-46AC-BBBA-88A9D2464F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219325"/>
            <a:ext cx="1276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Split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8691761-B976-4CAB-90EF-08A6514CF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1336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353A6BE-EE38-493F-81D9-F72755DFA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219325"/>
            <a:ext cx="9906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Rows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50DF361-84AC-4E23-9D90-F5BD165724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1336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D901BFC-4BCA-4B67-8F24-54426AEDB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219325"/>
            <a:ext cx="16573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Feature cols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A56650-D57B-46A2-9929-5CBABBCB4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336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8C75D5A-DC00-4BFC-B967-7E08211CDD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219325"/>
            <a:ext cx="384810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900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Protocol note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85278E-97D2-409D-B7D1-BC1D33BBB1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717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ED31A04-C54D-4043-8626-A73A4FABA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647950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Fold_1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EA83477-BCC4-49A9-BB07-491E1E51A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25717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B7EA03-CBB8-4E6A-99F2-30EBD9B6B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2647950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E796068-EF4F-40FA-964D-C6A37A2C2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25717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29C172-E917-4322-A396-2C62D116B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2647950"/>
            <a:ext cx="99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5AC474B-DA30-41B4-8381-B4BD373859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25717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B990D2C-0372-4A11-8D42-105E3AF37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264795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84,430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3C51E37-D44E-4116-9E7C-07EB6F4A2B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5717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BAD6033-D5F0-4619-9783-F4BB748C48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2647950"/>
            <a:ext cx="384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fixed calculators; train-fitted learned steps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808FDF8-715E-4E52-BE6D-62447B68FB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0099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9C4807BA-4227-429C-847B-B3098EC211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86100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Fold_1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EB58C35E-E2A1-4702-8A55-C566980269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0099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B1EEC09-DF90-4761-B20F-7F7A85622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086100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2F3C8407-0557-4C8E-AD5E-931CF9399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0099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6978AA98-DA6B-42CB-A7F9-91857E64C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086100"/>
            <a:ext cx="99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D949E923-4EC2-4F93-B62C-BD2BBA4E83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0099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AB409AB3-893E-46A1-8655-48F2B10C2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08610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84,430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F5A186CB-FEE1-47C1-807C-D71BCA876A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0099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8AF86DBB-074D-49C6-B20E-BA02B9778A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086100"/>
            <a:ext cx="384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fixed calculators; train-fitted learned steps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190D53C8-E832-43A9-B31A-8BB243252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63EDC84-7E36-4156-81A7-BDAE942AA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24250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Fold_1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F8730CF3-5D9A-4C99-A031-A7D57E8888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4480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EF35BB6B-01AF-4EAB-B5DE-DC392B6A7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524250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95B3A64-EDAE-42F4-98C4-93303A06B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4480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3ABA9C0-70C9-42A9-BEDB-D37D2DE543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524250"/>
            <a:ext cx="99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60C533F5-2B12-4DF7-A2E6-0D3764C3A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4480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676BA3B-E88B-47C4-8375-DA2ADCA16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52425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84,430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60C196C-1F48-4E34-BD1F-5D11378CE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4480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0F09F19-60DD-4429-8B94-DA9E80573F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524250"/>
            <a:ext cx="384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fixed calculators; train-fitted learned steps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74E90DE-C77A-42BE-AA64-BB10CBB3D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8862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3828BDF-E1D4-483B-818B-57645C20C1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962400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Fold_2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EE2E5EF-46F4-44DF-9DD9-42D5486CF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8862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620D3573-A1EF-4F81-8623-DF45EA3B76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962400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training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AC8EFCE8-B7B1-40F1-855C-9AE32A72D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38862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ACC7D46-8D55-4ACB-9B5C-C6F046F79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3962400"/>
            <a:ext cx="99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60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7AEC2AF9-E55E-43C8-81A9-1E9907E94C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38862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E3F9E2A-74DC-486A-A708-3980D00F5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396240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84,430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33C1A142-37B1-4635-80AB-DC6B7555F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38862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45592ABD-1AF2-4278-9BD7-33682ABB7C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3962400"/>
            <a:ext cx="384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fixed calculators; train-fitted learned steps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8800B692-3D7F-4B09-8154-2930F1595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3243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E6BF043-B346-42E3-ACD3-E4E258CFC9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00550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Fold_2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4A0FBE5-E791-4AC9-88AB-AF152D8BD3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32435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6ABCE892-A502-4EC2-B4B7-F0320AA46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400550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validation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FBCD6718-C496-4A47-8588-0443AABE96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32435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52AD4FA8-402B-43A3-AD41-DC2442D69F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400550"/>
            <a:ext cx="99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AC0AD723-D686-4FC9-9056-664A26B88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32435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378F6944-1BAC-4E2F-B02B-33453ECFE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40055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84,430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EA09E72C-A21F-43ED-87D6-25E065EAA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2435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A167346B-BB61-4CAB-BA68-2C34F51E7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00550"/>
            <a:ext cx="384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fixed calculators; train-fitted learned steps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7F1BAED-C29B-459E-AEEB-08A7D0BA30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DC107257-1F0B-4237-9C68-E352C81445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838700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Fold_2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DED1D962-3FBB-4487-91B1-7F848449A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4762500"/>
            <a:ext cx="1428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6CFBCB36-6C58-45F9-9D24-5176D646A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4838700"/>
            <a:ext cx="1276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test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3739ECF7-6A87-4335-A699-FC8A93733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4762500"/>
            <a:ext cx="1143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A804E1C4-9602-44BB-81B4-2B91F5F1C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38550" y="4838700"/>
            <a:ext cx="9906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20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93F95CB9-6AEE-4E98-A83E-C763AF706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05350" y="4762500"/>
            <a:ext cx="180975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BCE1C3FC-AD1E-48D5-9D55-4D6A7F0F2D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838700"/>
            <a:ext cx="16573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84,430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77BEF34-0AC6-4A4A-AA2A-0214900CAE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762500"/>
            <a:ext cx="40005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6DF2920F-8553-465C-8F8B-78317B6DB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838700"/>
            <a:ext cx="38481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fixed calculators; train-fitted learned steps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276D43BC-7412-431B-8C76-5ECBCBCE7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200650"/>
            <a:ext cx="1000125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9E2E8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CCE5A067-B7D7-4188-A78F-88CD850D8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53050"/>
            <a:ext cx="9620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Audit check: every fold has 60 training, 20 validation, and 20 test subjects. Each Efficient matrix has 84,430 feature columns before train-fitted filtering/selection.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1DED8F9-C930-4D1D-9ECC-C7B139B10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Feature audit: results/tables/deliverable2_fold_safe_feature_audit.csv</a:t>
            </a:r>
          </a:p>
        </p:txBody>
      </p:sp>
    </p:spTree>
    <p:extLst>
      <p:ext uri="{BB962C8B-B14F-4D97-AF65-F5344CB8AC3E}">
        <p14:creationId xmlns:p14="http://schemas.microsoft.com/office/powerpoint/2010/main" val="156642960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A35A9FC-042D-4E77-83B3-910DB59446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570F57-4E9F-4978-91BD-FE9B7827A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A11AF1-E66C-47C4-8CD7-36F97E7336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FEATURE SELECTION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01C1CC1-54EF-4479-9483-D2623DDFD9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TSFresh selection helps in specific views, not universally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16E9CD2-A090-49A4-853F-AB29B753CA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Comparison uses the same folds, same Efficient feature matrices, and validation-selected classifiers.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AD0D8D-9EEA-441B-B3C2-A61B7E4196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Task 1 + Task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E74BA6A-08C3-4B5A-AA6F-58A394FD6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52625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C3770F4-8126-4CAA-B559-F0B186BE43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38350"/>
            <a:ext cx="10858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F1B6FC9-77EC-460D-8CF3-D5217D1442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1952625"/>
            <a:ext cx="2238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68D3E6D-CB6E-4598-A0D4-2BAE0B86D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038350"/>
            <a:ext cx="208597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Selector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0A83D2E-A38E-4010-B6C0-456154AE9C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1952625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A10AD3-5674-4F19-A33F-C920AB988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038350"/>
            <a:ext cx="203835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84754E-39BA-403B-9231-8ECB8ED2C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195262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5297946-8A89-490A-8D8A-E6D6F8AE3C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038350"/>
            <a:ext cx="1038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5B5415F-E905-4F6D-A336-0741D75F9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195262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84DFBDE-4B90-4C13-88A4-50832DC0D2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038350"/>
            <a:ext cx="1038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1D91B3B-7FD6-4CF5-9C63-A1DCCD8BF7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195262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3BC46D0-F4A4-4132-ADB6-22729E889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038350"/>
            <a:ext cx="10382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489BD3C-4A93-4D9A-91E0-DF0A27AE5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1952625"/>
            <a:ext cx="1000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5955CD2-F6A4-4C22-9C3B-AE4699F55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038350"/>
            <a:ext cx="8477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47DB53E-2998-464B-91A0-6F3801B6AA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324100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5AFDC35-6FC7-4B5D-85F8-C371DBE8A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003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6A0CA5F-02DE-4ADF-8144-719C2AA82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324100"/>
            <a:ext cx="2238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AFC9399-FEB6-4001-B50B-E074BE92C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400300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SelectKBest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D65937A-D185-4726-B518-02F23C3DA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324100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63FECC5F-DDC3-416B-904E-7661C881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4003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Linear SVM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ACD32BB-B6C1-4F8A-9C62-47E379548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324100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54BF8F3-B33E-4220-9720-CD1FBCB4C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40030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83.0%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1C06A9-9B8C-404A-9F32-6D4E23AD0A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324100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D2A511D-3C66-4A28-98D2-55D8723C0E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40030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86.0%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DA1B5116-00EE-4BEE-B06D-9F3D6D9FA6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324100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3C8D63A-060C-4128-9356-11906B1C5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40030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80.0%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FB7CFD5-2EED-4244-9043-84429CD4D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324100"/>
            <a:ext cx="1000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467FEBF-07FD-4CCD-937F-93059C36CF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400300"/>
            <a:ext cx="847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0.892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46D075E0-07D7-499A-8B97-BAB9A94AB1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695575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4519E1D-5D68-4275-9C18-CBBBEAFDB3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7177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152988B-404D-4569-A3D3-4196A4454C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695575"/>
            <a:ext cx="2238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E1A3A41-7D39-4A83-B1F5-31870F5CCA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2771775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SelectKBest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69F444A-DB85-4766-B31F-9E561FC78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2695575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1E658D5-3636-4678-B5FB-5A3C28B38E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27717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09D174B-BC2D-4EB6-A351-EC155C0A66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269557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E5134BE0-6AED-48E4-9DBF-0833A4B4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2771775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03945DB2-8A4A-46EB-A231-1EF980C143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269557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EE5C2853-70D6-492D-865F-688D8A604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2771775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84.0%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1160231-79DD-4A81-AFDB-A4837E35CB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269557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2E1BC17A-95D5-4EAA-BC46-DEA5DF3314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2771775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80.0%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0D27F4E6-5A57-42D1-A03B-6CE485DBBD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2695575"/>
            <a:ext cx="1000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986780BF-5C02-42A0-9881-1FC902EC6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2771775"/>
            <a:ext cx="847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0.892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9107A38F-A134-42DA-97A5-086C133E42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067050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B310F67A-17B7-4F15-8BF7-263BDD194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14325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enhanced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30F1CED5-C513-4ABF-9A78-201C99D7EF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067050"/>
            <a:ext cx="2238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23916ECB-7018-402C-AFCE-F4808F6E1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143250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select_features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A1E9CD7-8B4E-429A-9401-7D2FDFEF6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067050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51ED2CE6-68C1-448A-8F3F-7FD293EDDB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1432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Random Forest + TSFresh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D6601555-50F0-423D-BA35-008FBE2F9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067050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B146E7DD-0454-4735-B24B-15ED34891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14325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83.0%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5506DF44-3F90-4540-AAF9-54E4BD725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067050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A8953E48-049B-4104-9A15-DDB3088701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14325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19773953-9C66-422E-8F72-E2418956CD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067050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A6D37275-DCBB-4470-9F6A-C7AF6A6784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14325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84.0%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B3D575D3-493F-4261-B398-712D2D62DC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067050"/>
            <a:ext cx="1000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F74C7A96-D850-435E-BA99-3F9A615DD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143250"/>
            <a:ext cx="847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0.901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14750AB6-1386-4745-BA5C-40A2A30AF8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438525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C64D7763-E57F-40AD-8D66-E4D2411250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enhanced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FE6FC28E-A388-4BCA-BA15-2B74A779FA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38525"/>
            <a:ext cx="2238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F8D1F06B-E199-4A1B-A6EB-DC1302056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514725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SelectKBest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B5D7CB3D-E24B-46E6-8549-CEED7C8FF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438525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E07FBBED-8232-4153-92CD-28907CA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51472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2B1E116-2984-4440-B130-C394155D5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43852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DB55916B-05D5-4147-92CF-EE0BEBDDF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514725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83.0%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7963591B-8BC4-4A2D-8A45-1D291CEAC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43852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BCDF8CA2-268D-4CCB-B87E-7164917B95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514725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84.0%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4E3F732F-EC2C-4AB9-9227-ECC1DF5E8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43852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87042EAD-8D2C-4809-AF45-282D1D4244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514725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2E383EDA-7C4C-4C1D-9D54-24C503D13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438525"/>
            <a:ext cx="1000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9C5DD8BC-5DDD-45C6-964B-4D12A2E477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514725"/>
            <a:ext cx="847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0.896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EC84888-9121-4062-86E3-1802C4415B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810000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3A137E84-4993-4653-BA61-57E685882F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8620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left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657B6501-5F02-426D-9570-9B14545B5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810000"/>
            <a:ext cx="2238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E75910E4-5B6B-475D-944C-4C6581511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86200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select_features</a:t>
            </a:r>
          </a:p>
        </p:txBody>
      </p:sp>
      <p:sp>
        <p:nvSpPr>
          <p:cNvPr id="81" name="">
            <a:extLst xmlns:a="http://schemas.openxmlformats.org/drawingml/2006/main">
              <a:ext uri="{FF2B5EF4-FFF2-40B4-BE49-F238E27FC236}">
                <a16:creationId xmlns:a16="http://schemas.microsoft.com/office/drawing/2014/main" id="{BC329DD0-C9D0-4FC1-A410-64F700B06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3810000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2" name="">
            <a:extLst xmlns:a="http://schemas.openxmlformats.org/drawingml/2006/main">
              <a:ext uri="{FF2B5EF4-FFF2-40B4-BE49-F238E27FC236}">
                <a16:creationId xmlns:a16="http://schemas.microsoft.com/office/drawing/2014/main" id="{E6500795-2B84-4368-BADF-59678DFC36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88620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Linear SVM + TSFresh</a:t>
            </a:r>
          </a:p>
        </p:txBody>
      </p:sp>
      <p:sp>
        <p:nvSpPr>
          <p:cNvPr id="83" name="">
            <a:extLst xmlns:a="http://schemas.openxmlformats.org/drawingml/2006/main">
              <a:ext uri="{FF2B5EF4-FFF2-40B4-BE49-F238E27FC236}">
                <a16:creationId xmlns:a16="http://schemas.microsoft.com/office/drawing/2014/main" id="{BDB72730-9929-4F1C-B88E-D796A5F245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3810000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4" name="">
            <a:extLst xmlns:a="http://schemas.openxmlformats.org/drawingml/2006/main">
              <a:ext uri="{FF2B5EF4-FFF2-40B4-BE49-F238E27FC236}">
                <a16:creationId xmlns:a16="http://schemas.microsoft.com/office/drawing/2014/main" id="{51219E5E-708B-46CE-8352-EBAACE8ED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388620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85" name="">
            <a:extLst xmlns:a="http://schemas.openxmlformats.org/drawingml/2006/main">
              <a:ext uri="{FF2B5EF4-FFF2-40B4-BE49-F238E27FC236}">
                <a16:creationId xmlns:a16="http://schemas.microsoft.com/office/drawing/2014/main" id="{821016FB-AC22-474A-A53D-67E5C7A46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3810000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6" name="">
            <a:extLst xmlns:a="http://schemas.openxmlformats.org/drawingml/2006/main">
              <a:ext uri="{FF2B5EF4-FFF2-40B4-BE49-F238E27FC236}">
                <a16:creationId xmlns:a16="http://schemas.microsoft.com/office/drawing/2014/main" id="{471155BF-670D-4F74-9E7B-E7D335B5B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388620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87" name="">
            <a:extLst xmlns:a="http://schemas.openxmlformats.org/drawingml/2006/main">
              <a:ext uri="{FF2B5EF4-FFF2-40B4-BE49-F238E27FC236}">
                <a16:creationId xmlns:a16="http://schemas.microsoft.com/office/drawing/2014/main" id="{BB3CD077-1D47-4B98-B42A-63957D4B49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3810000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88" name="">
            <a:extLst xmlns:a="http://schemas.openxmlformats.org/drawingml/2006/main">
              <a:ext uri="{FF2B5EF4-FFF2-40B4-BE49-F238E27FC236}">
                <a16:creationId xmlns:a16="http://schemas.microsoft.com/office/drawing/2014/main" id="{86653C66-FEA0-4FAF-A202-B1265112F5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388620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89" name="">
            <a:extLst xmlns:a="http://schemas.openxmlformats.org/drawingml/2006/main">
              <a:ext uri="{FF2B5EF4-FFF2-40B4-BE49-F238E27FC236}">
                <a16:creationId xmlns:a16="http://schemas.microsoft.com/office/drawing/2014/main" id="{15E6101B-7B21-48DD-84C7-9D3D1D9172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3810000"/>
            <a:ext cx="1000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0" name="">
            <a:extLst xmlns:a="http://schemas.openxmlformats.org/drawingml/2006/main">
              <a:ext uri="{FF2B5EF4-FFF2-40B4-BE49-F238E27FC236}">
                <a16:creationId xmlns:a16="http://schemas.microsoft.com/office/drawing/2014/main" id="{B014B56C-4D72-4E1A-8E6A-1BB8CBF48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3886200"/>
            <a:ext cx="847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0.912</a:t>
            </a:r>
          </a:p>
        </p:txBody>
      </p:sp>
      <p:sp>
        <p:nvSpPr>
          <p:cNvPr id="91" name="">
            <a:extLst xmlns:a="http://schemas.openxmlformats.org/drawingml/2006/main">
              <a:ext uri="{FF2B5EF4-FFF2-40B4-BE49-F238E27FC236}">
                <a16:creationId xmlns:a16="http://schemas.microsoft.com/office/drawing/2014/main" id="{51098BA1-B8E1-4AE8-858A-0450DEF729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181475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2" name="">
            <a:extLst xmlns:a="http://schemas.openxmlformats.org/drawingml/2006/main">
              <a:ext uri="{FF2B5EF4-FFF2-40B4-BE49-F238E27FC236}">
                <a16:creationId xmlns:a16="http://schemas.microsoft.com/office/drawing/2014/main" id="{4903701F-7B19-4E94-8DED-2CFF59936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5767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left</a:t>
            </a:r>
          </a:p>
        </p:txBody>
      </p:sp>
      <p:sp>
        <p:nvSpPr>
          <p:cNvPr id="93" name="">
            <a:extLst xmlns:a="http://schemas.openxmlformats.org/drawingml/2006/main">
              <a:ext uri="{FF2B5EF4-FFF2-40B4-BE49-F238E27FC236}">
                <a16:creationId xmlns:a16="http://schemas.microsoft.com/office/drawing/2014/main" id="{21D8CB27-A0BC-41F4-A278-E3B67C970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181475"/>
            <a:ext cx="2238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4" name="">
            <a:extLst xmlns:a="http://schemas.openxmlformats.org/drawingml/2006/main">
              <a:ext uri="{FF2B5EF4-FFF2-40B4-BE49-F238E27FC236}">
                <a16:creationId xmlns:a16="http://schemas.microsoft.com/office/drawing/2014/main" id="{747042F3-43A5-4A3E-81A2-F46DFF1D47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57675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select_features</a:t>
            </a:r>
          </a:p>
        </p:txBody>
      </p:sp>
      <p:sp>
        <p:nvSpPr>
          <p:cNvPr id="95" name="">
            <a:extLst xmlns:a="http://schemas.openxmlformats.org/drawingml/2006/main">
              <a:ext uri="{FF2B5EF4-FFF2-40B4-BE49-F238E27FC236}">
                <a16:creationId xmlns:a16="http://schemas.microsoft.com/office/drawing/2014/main" id="{6702EF2A-F9AC-4462-A6EC-186613709D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181475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6" name="">
            <a:extLst xmlns:a="http://schemas.openxmlformats.org/drawingml/2006/main">
              <a:ext uri="{FF2B5EF4-FFF2-40B4-BE49-F238E27FC236}">
                <a16:creationId xmlns:a16="http://schemas.microsoft.com/office/drawing/2014/main" id="{02AB562B-9FFE-48F1-A35E-0016ADE17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25767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Random Forest + TSFresh</a:t>
            </a:r>
          </a:p>
        </p:txBody>
      </p:sp>
      <p:sp>
        <p:nvSpPr>
          <p:cNvPr id="97" name="">
            <a:extLst xmlns:a="http://schemas.openxmlformats.org/drawingml/2006/main">
              <a:ext uri="{FF2B5EF4-FFF2-40B4-BE49-F238E27FC236}">
                <a16:creationId xmlns:a16="http://schemas.microsoft.com/office/drawing/2014/main" id="{63FF663E-B26A-474C-9B47-2B40E6A469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18147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98" name="">
            <a:extLst xmlns:a="http://schemas.openxmlformats.org/drawingml/2006/main">
              <a:ext uri="{FF2B5EF4-FFF2-40B4-BE49-F238E27FC236}">
                <a16:creationId xmlns:a16="http://schemas.microsoft.com/office/drawing/2014/main" id="{0729B364-E90C-4159-94E7-41AA9B56E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257675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99" name="">
            <a:extLst xmlns:a="http://schemas.openxmlformats.org/drawingml/2006/main">
              <a:ext uri="{FF2B5EF4-FFF2-40B4-BE49-F238E27FC236}">
                <a16:creationId xmlns:a16="http://schemas.microsoft.com/office/drawing/2014/main" id="{7F9842CD-D283-4FF3-8824-786F70F0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18147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00" name="">
            <a:extLst xmlns:a="http://schemas.openxmlformats.org/drawingml/2006/main">
              <a:ext uri="{FF2B5EF4-FFF2-40B4-BE49-F238E27FC236}">
                <a16:creationId xmlns:a16="http://schemas.microsoft.com/office/drawing/2014/main" id="{5E5972B9-B77F-46F9-BD5F-70CAF9D5CD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257675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80.0%</a:t>
            </a:r>
          </a:p>
        </p:txBody>
      </p:sp>
      <p:sp>
        <p:nvSpPr>
          <p:cNvPr id="101" name="">
            <a:extLst xmlns:a="http://schemas.openxmlformats.org/drawingml/2006/main">
              <a:ext uri="{FF2B5EF4-FFF2-40B4-BE49-F238E27FC236}">
                <a16:creationId xmlns:a16="http://schemas.microsoft.com/office/drawing/2014/main" id="{85EF78FC-279E-477B-A655-AEFB3967E2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18147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02" name="">
            <a:extLst xmlns:a="http://schemas.openxmlformats.org/drawingml/2006/main">
              <a:ext uri="{FF2B5EF4-FFF2-40B4-BE49-F238E27FC236}">
                <a16:creationId xmlns:a16="http://schemas.microsoft.com/office/drawing/2014/main" id="{B209DD55-D5A4-4B04-83D2-FEE462B06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257675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84.0%</a:t>
            </a:r>
          </a:p>
        </p:txBody>
      </p:sp>
      <p:sp>
        <p:nvSpPr>
          <p:cNvPr id="103" name="">
            <a:extLst xmlns:a="http://schemas.openxmlformats.org/drawingml/2006/main">
              <a:ext uri="{FF2B5EF4-FFF2-40B4-BE49-F238E27FC236}">
                <a16:creationId xmlns:a16="http://schemas.microsoft.com/office/drawing/2014/main" id="{98305D2F-0267-49BB-AC8B-B94D1AF7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181475"/>
            <a:ext cx="1000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04" name="">
            <a:extLst xmlns:a="http://schemas.openxmlformats.org/drawingml/2006/main">
              <a:ext uri="{FF2B5EF4-FFF2-40B4-BE49-F238E27FC236}">
                <a16:creationId xmlns:a16="http://schemas.microsoft.com/office/drawing/2014/main" id="{22485F86-EE96-4120-B6B2-D2053150C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257675"/>
            <a:ext cx="847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0.910</a:t>
            </a:r>
          </a:p>
        </p:txBody>
      </p:sp>
      <p:sp>
        <p:nvSpPr>
          <p:cNvPr id="105" name="">
            <a:extLst xmlns:a="http://schemas.openxmlformats.org/drawingml/2006/main">
              <a:ext uri="{FF2B5EF4-FFF2-40B4-BE49-F238E27FC236}">
                <a16:creationId xmlns:a16="http://schemas.microsoft.com/office/drawing/2014/main" id="{001DC350-6042-4F11-A7CE-97C47E2207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552950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06" name="">
            <a:extLst xmlns:a="http://schemas.openxmlformats.org/drawingml/2006/main">
              <a:ext uri="{FF2B5EF4-FFF2-40B4-BE49-F238E27FC236}">
                <a16:creationId xmlns:a16="http://schemas.microsoft.com/office/drawing/2014/main" id="{CFF87FA9-C338-40C2-A64E-9916C5995A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29150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right</a:t>
            </a:r>
          </a:p>
        </p:txBody>
      </p:sp>
      <p:sp>
        <p:nvSpPr>
          <p:cNvPr id="107" name="">
            <a:extLst xmlns:a="http://schemas.openxmlformats.org/drawingml/2006/main">
              <a:ext uri="{FF2B5EF4-FFF2-40B4-BE49-F238E27FC236}">
                <a16:creationId xmlns:a16="http://schemas.microsoft.com/office/drawing/2014/main" id="{B59FFD80-6AC2-4ED8-924B-A3015376D9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552950"/>
            <a:ext cx="2238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08" name="">
            <a:extLst xmlns:a="http://schemas.openxmlformats.org/drawingml/2006/main">
              <a:ext uri="{FF2B5EF4-FFF2-40B4-BE49-F238E27FC236}">
                <a16:creationId xmlns:a16="http://schemas.microsoft.com/office/drawing/2014/main" id="{89225EDE-A84B-48EC-A0A4-ACEC49ED85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29150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SelectKBest</a:t>
            </a:r>
          </a:p>
        </p:txBody>
      </p:sp>
      <p:sp>
        <p:nvSpPr>
          <p:cNvPr id="109" name="">
            <a:extLst xmlns:a="http://schemas.openxmlformats.org/drawingml/2006/main">
              <a:ext uri="{FF2B5EF4-FFF2-40B4-BE49-F238E27FC236}">
                <a16:creationId xmlns:a16="http://schemas.microsoft.com/office/drawing/2014/main" id="{98C06DCF-5BBC-4AD2-91B2-031671960B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552950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10" name="">
            <a:extLst xmlns:a="http://schemas.openxmlformats.org/drawingml/2006/main">
              <a:ext uri="{FF2B5EF4-FFF2-40B4-BE49-F238E27FC236}">
                <a16:creationId xmlns:a16="http://schemas.microsoft.com/office/drawing/2014/main" id="{D6E4756F-BDB7-44BF-97C1-C99D10005D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4629150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111" name="">
            <a:extLst xmlns:a="http://schemas.openxmlformats.org/drawingml/2006/main">
              <a:ext uri="{FF2B5EF4-FFF2-40B4-BE49-F238E27FC236}">
                <a16:creationId xmlns:a16="http://schemas.microsoft.com/office/drawing/2014/main" id="{11B7B2D4-E0F9-421F-8B47-2A1D1986F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552950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12" name="">
            <a:extLst xmlns:a="http://schemas.openxmlformats.org/drawingml/2006/main">
              <a:ext uri="{FF2B5EF4-FFF2-40B4-BE49-F238E27FC236}">
                <a16:creationId xmlns:a16="http://schemas.microsoft.com/office/drawing/2014/main" id="{75BDC8CC-F182-4081-B8F2-F17C7A994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462915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83.0%</a:t>
            </a:r>
          </a:p>
        </p:txBody>
      </p:sp>
      <p:sp>
        <p:nvSpPr>
          <p:cNvPr id="113" name="">
            <a:extLst xmlns:a="http://schemas.openxmlformats.org/drawingml/2006/main">
              <a:ext uri="{FF2B5EF4-FFF2-40B4-BE49-F238E27FC236}">
                <a16:creationId xmlns:a16="http://schemas.microsoft.com/office/drawing/2014/main" id="{5F93FC6E-5BB8-4E00-B18D-0F3147B85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552950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14" name="">
            <a:extLst xmlns:a="http://schemas.openxmlformats.org/drawingml/2006/main">
              <a:ext uri="{FF2B5EF4-FFF2-40B4-BE49-F238E27FC236}">
                <a16:creationId xmlns:a16="http://schemas.microsoft.com/office/drawing/2014/main" id="{783FF791-6919-4DC0-B2A0-FF01749BB3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462915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86.0%</a:t>
            </a:r>
          </a:p>
        </p:txBody>
      </p:sp>
      <p:sp>
        <p:nvSpPr>
          <p:cNvPr id="115" name="">
            <a:extLst xmlns:a="http://schemas.openxmlformats.org/drawingml/2006/main">
              <a:ext uri="{FF2B5EF4-FFF2-40B4-BE49-F238E27FC236}">
                <a16:creationId xmlns:a16="http://schemas.microsoft.com/office/drawing/2014/main" id="{9E28A588-B982-49F7-B4DA-6F24DA99D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552950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16" name="">
            <a:extLst xmlns:a="http://schemas.openxmlformats.org/drawingml/2006/main">
              <a:ext uri="{FF2B5EF4-FFF2-40B4-BE49-F238E27FC236}">
                <a16:creationId xmlns:a16="http://schemas.microsoft.com/office/drawing/2014/main" id="{DBD65B29-F3F2-4C13-A10D-F34BB69A6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4629150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80.0%</a:t>
            </a:r>
          </a:p>
        </p:txBody>
      </p:sp>
      <p:sp>
        <p:nvSpPr>
          <p:cNvPr id="117" name="">
            <a:extLst xmlns:a="http://schemas.openxmlformats.org/drawingml/2006/main">
              <a:ext uri="{FF2B5EF4-FFF2-40B4-BE49-F238E27FC236}">
                <a16:creationId xmlns:a16="http://schemas.microsoft.com/office/drawing/2014/main" id="{35A1A5B3-532B-45BA-9836-45DD713D0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552950"/>
            <a:ext cx="1000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18" name="">
            <a:extLst xmlns:a="http://schemas.openxmlformats.org/drawingml/2006/main">
              <a:ext uri="{FF2B5EF4-FFF2-40B4-BE49-F238E27FC236}">
                <a16:creationId xmlns:a16="http://schemas.microsoft.com/office/drawing/2014/main" id="{5501542E-3031-4C5B-8F76-E26E0C00D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4629150"/>
            <a:ext cx="847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0.902</a:t>
            </a:r>
          </a:p>
        </p:txBody>
      </p:sp>
      <p:sp>
        <p:nvSpPr>
          <p:cNvPr id="119" name="">
            <a:extLst xmlns:a="http://schemas.openxmlformats.org/drawingml/2006/main">
              <a:ext uri="{FF2B5EF4-FFF2-40B4-BE49-F238E27FC236}">
                <a16:creationId xmlns:a16="http://schemas.microsoft.com/office/drawing/2014/main" id="{B101FC53-3AF0-4D07-93FD-9D4387F4C5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24425"/>
            <a:ext cx="12382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0" name="">
            <a:extLst xmlns:a="http://schemas.openxmlformats.org/drawingml/2006/main">
              <a:ext uri="{FF2B5EF4-FFF2-40B4-BE49-F238E27FC236}">
                <a16:creationId xmlns:a16="http://schemas.microsoft.com/office/drawing/2014/main" id="{A798FA23-2E2E-4364-B24A-16C48039D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00625"/>
            <a:ext cx="10858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right</a:t>
            </a:r>
          </a:p>
        </p:txBody>
      </p:sp>
      <p:sp>
        <p:nvSpPr>
          <p:cNvPr id="121" name="">
            <a:extLst xmlns:a="http://schemas.openxmlformats.org/drawingml/2006/main">
              <a:ext uri="{FF2B5EF4-FFF2-40B4-BE49-F238E27FC236}">
                <a16:creationId xmlns:a16="http://schemas.microsoft.com/office/drawing/2014/main" id="{B4F16808-9BE9-414C-9452-FE865DA5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4924425"/>
            <a:ext cx="22383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2" name="">
            <a:extLst xmlns:a="http://schemas.openxmlformats.org/drawingml/2006/main">
              <a:ext uri="{FF2B5EF4-FFF2-40B4-BE49-F238E27FC236}">
                <a16:creationId xmlns:a16="http://schemas.microsoft.com/office/drawing/2014/main" id="{583DFDB6-6853-4B93-8050-F7DB026EF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00625"/>
            <a:ext cx="20859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select_features</a:t>
            </a:r>
          </a:p>
        </p:txBody>
      </p:sp>
      <p:sp>
        <p:nvSpPr>
          <p:cNvPr id="123" name="">
            <a:extLst xmlns:a="http://schemas.openxmlformats.org/drawingml/2006/main">
              <a:ext uri="{FF2B5EF4-FFF2-40B4-BE49-F238E27FC236}">
                <a16:creationId xmlns:a16="http://schemas.microsoft.com/office/drawing/2014/main" id="{144F39AB-D180-4885-ABC3-B4FCB3F2A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86225" y="4924425"/>
            <a:ext cx="219075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4" name="">
            <a:extLst xmlns:a="http://schemas.openxmlformats.org/drawingml/2006/main">
              <a:ext uri="{FF2B5EF4-FFF2-40B4-BE49-F238E27FC236}">
                <a16:creationId xmlns:a16="http://schemas.microsoft.com/office/drawing/2014/main" id="{0F60C888-A430-4459-B2CF-4295B88C7E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5000625"/>
            <a:ext cx="20383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Random Forest + TSFresh</a:t>
            </a:r>
          </a:p>
        </p:txBody>
      </p:sp>
      <p:sp>
        <p:nvSpPr>
          <p:cNvPr id="125" name="">
            <a:extLst xmlns:a="http://schemas.openxmlformats.org/drawingml/2006/main">
              <a:ext uri="{FF2B5EF4-FFF2-40B4-BE49-F238E27FC236}">
                <a16:creationId xmlns:a16="http://schemas.microsoft.com/office/drawing/2014/main" id="{CD6979ED-1CA8-463B-8911-07861BF3C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76975" y="492442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6" name="">
            <a:extLst xmlns:a="http://schemas.openxmlformats.org/drawingml/2006/main">
              <a:ext uri="{FF2B5EF4-FFF2-40B4-BE49-F238E27FC236}">
                <a16:creationId xmlns:a16="http://schemas.microsoft.com/office/drawing/2014/main" id="{A65276E3-D88A-49CC-A9FE-9C4E87F38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3175" y="5000625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83.0%</a:t>
            </a:r>
          </a:p>
        </p:txBody>
      </p:sp>
      <p:sp>
        <p:nvSpPr>
          <p:cNvPr id="127" name="">
            <a:extLst xmlns:a="http://schemas.openxmlformats.org/drawingml/2006/main">
              <a:ext uri="{FF2B5EF4-FFF2-40B4-BE49-F238E27FC236}">
                <a16:creationId xmlns:a16="http://schemas.microsoft.com/office/drawing/2014/main" id="{3600A496-9ABA-4466-8AA8-1E343EFA4F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92442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28" name="">
            <a:extLst xmlns:a="http://schemas.openxmlformats.org/drawingml/2006/main">
              <a:ext uri="{FF2B5EF4-FFF2-40B4-BE49-F238E27FC236}">
                <a16:creationId xmlns:a16="http://schemas.microsoft.com/office/drawing/2014/main" id="{7EC07367-92E3-41C1-8164-52ECEEBFA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5000625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84.0%</a:t>
            </a:r>
          </a:p>
        </p:txBody>
      </p:sp>
      <p:sp>
        <p:nvSpPr>
          <p:cNvPr id="129" name="">
            <a:extLst xmlns:a="http://schemas.openxmlformats.org/drawingml/2006/main">
              <a:ext uri="{FF2B5EF4-FFF2-40B4-BE49-F238E27FC236}">
                <a16:creationId xmlns:a16="http://schemas.microsoft.com/office/drawing/2014/main" id="{1E8D8B26-1121-49DF-B112-241C4B31BC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8225" y="4924425"/>
            <a:ext cx="11906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30" name="">
            <a:extLst xmlns:a="http://schemas.openxmlformats.org/drawingml/2006/main">
              <a:ext uri="{FF2B5EF4-FFF2-40B4-BE49-F238E27FC236}">
                <a16:creationId xmlns:a16="http://schemas.microsoft.com/office/drawing/2014/main" id="{49BBC332-FE73-431F-9799-8836F612B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34425" y="5000625"/>
            <a:ext cx="10382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131" name="">
            <a:extLst xmlns:a="http://schemas.openxmlformats.org/drawingml/2006/main">
              <a:ext uri="{FF2B5EF4-FFF2-40B4-BE49-F238E27FC236}">
                <a16:creationId xmlns:a16="http://schemas.microsoft.com/office/drawing/2014/main" id="{74B60B99-7183-47F1-BED6-AB504ECA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48850" y="4924425"/>
            <a:ext cx="10001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132" name="">
            <a:extLst xmlns:a="http://schemas.openxmlformats.org/drawingml/2006/main">
              <a:ext uri="{FF2B5EF4-FFF2-40B4-BE49-F238E27FC236}">
                <a16:creationId xmlns:a16="http://schemas.microsoft.com/office/drawing/2014/main" id="{DEEAECC8-BED3-4A2B-A2CB-B11C197EAA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25050" y="5000625"/>
            <a:ext cx="8477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0.896</a:t>
            </a:r>
          </a:p>
        </p:txBody>
      </p:sp>
      <p:sp>
        <p:nvSpPr>
          <p:cNvPr id="133" name="">
            <a:extLst xmlns:a="http://schemas.openxmlformats.org/drawingml/2006/main">
              <a:ext uri="{FF2B5EF4-FFF2-40B4-BE49-F238E27FC236}">
                <a16:creationId xmlns:a16="http://schemas.microsoft.com/office/drawing/2014/main" id="{41B72BA6-EB56-460F-8783-8B6D0CB319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391150"/>
            <a:ext cx="89535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Decision: keep both paths in the implementation. TSFresh select_features gives the best left/enhanced result; SelectKBest remains stronger for the combined Linear SVM.</a:t>
            </a:r>
          </a:p>
        </p:txBody>
      </p:sp>
      <p:sp>
        <p:nvSpPr>
          <p:cNvPr id="134" name="">
            <a:extLst xmlns:a="http://schemas.openxmlformats.org/drawingml/2006/main">
              <a:ext uri="{FF2B5EF4-FFF2-40B4-BE49-F238E27FC236}">
                <a16:creationId xmlns:a16="http://schemas.microsoft.com/office/drawing/2014/main" id="{A019B192-746B-4CFE-918B-F34AA123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Selector comparison: results/tables/deliverable2_feature_selection_comparison.csv</a:t>
            </a:r>
          </a:p>
        </p:txBody>
      </p:sp>
    </p:spTree>
    <p:extLst>
      <p:ext uri="{BB962C8B-B14F-4D97-AF65-F5344CB8AC3E}">
        <p14:creationId xmlns:p14="http://schemas.microsoft.com/office/powerpoint/2010/main" val="1567104275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8D5704BF-7D5A-4600-9B2C-075710B98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9FF766-EC6E-4BAB-BD18-315D3FD56B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989337-4029-4B3A-A070-51CE1A10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TASK 2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F608D6-63A4-4D83-9781-2BF854C6D6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Final five-fold test results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1CB989-E2F1-449F-999B-C012A86649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Mean metrics across the five test folds; test data is not used for model selection.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35B417D-076A-46E4-A0A2-B3EF9F1A1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Task 1 + Task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0F61CA0-5DAB-4D62-970E-C1E0A74D0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19431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3D8F021-C0D7-4C6C-B708-DBF68BEF50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028825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8DDE475-FE3D-4312-A929-689A5CFE78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19431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00A2A31-F871-423D-A0F0-04BC97181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028825"/>
            <a:ext cx="256222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Best family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DD91C2B-016D-4600-A712-58694133B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1943100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36B5541-C35D-4CBC-A64E-97AEFC0363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028825"/>
            <a:ext cx="2085975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CDE91C3-50DC-4C98-A267-F76A4DBA96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19431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81DE99-1028-4BDD-B81E-90390F237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028825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BB46303-7B13-4ABA-A881-BA5E54ED6C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19431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E789569-F590-441B-A258-DAA7426DB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028825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Sensitivity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FF13B10-646B-4EC2-99E0-BABB22BE9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19431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63EC48B-B6EB-4093-B2AC-576091FC4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028825"/>
            <a:ext cx="9906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Specificity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DCCBC5F-979C-4E82-A46E-4ED70242BF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194310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6BBE49D-E2C0-4225-8CEE-2B32EAA9D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028825"/>
            <a:ext cx="8001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AUC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74A7B0-3535-461C-B560-C71652127E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4193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5CEF3E-C5B1-464E-8C05-6342B4C3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49555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5A72DC2-8BBB-45CE-A9AE-7149908262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41935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A56F0AA-E1F6-4E4E-A711-97B88514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495550"/>
            <a:ext cx="2562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SelectKBest + classifier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380B78F-CF77-484E-83C8-7A8C3B4B64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419350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3F9CA7D-C036-4FFD-A21C-AF218ED25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495550"/>
            <a:ext cx="20859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Linear SVM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6380952-1FC5-4EA2-A6D0-E862E0675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193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EAA53643-DBAC-4D16-84FD-7AA05B6D6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49555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83.0%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DDE0761-0A86-4209-BD0C-0CB7C6D00B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4193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328F9CE1-B1A2-4C91-8C3A-EBF3F4A3C6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49555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86.0%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F479A28-029D-42C4-BD23-394590CCC6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4193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36D824E3-B73E-4385-B585-8F2B8D8BA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49555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80.0%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4DF8A7D-1B93-48A0-8D07-95F0AC66F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41935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57C655CF-5B11-47CB-99BB-033A899260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495550"/>
            <a:ext cx="800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0.892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06553508-D330-4B97-9D33-793DEEC10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28956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2EF46710-4C4B-4819-A5E8-E22F17B5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97180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enhanced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67CB3F4E-CE40-472E-A631-C4ADEA7984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28956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B41C0B8C-3BBF-4940-AC93-030027FBD6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2971800"/>
            <a:ext cx="2562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TSFresh selection + classifier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B65053E0-12C6-4D09-8E00-F5AA80C7E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2895600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38EE114F-58FD-4838-B3F8-8C083180CB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2971800"/>
            <a:ext cx="20859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Random Forest + TSFresh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382BEA9-F35F-4E7A-9E22-F04A275AC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8956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3B87E642-9504-4AFE-9586-50DB08CA3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297180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83.0%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5606A9-AE28-4741-9323-0F00E17D55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28956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32D6437-C6F8-44DF-B0D2-EB8410B6C4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297180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D835B702-34DC-4CED-9584-26D00516E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28956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F4091DB-4369-46B1-B246-83B8A09D4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297180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84.0%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6FEF8194-5644-4ADA-87D9-289CA91580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289560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8287BAEB-5BD8-4AD3-8374-6F2E386E14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2971800"/>
            <a:ext cx="800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0.901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178C85A1-7C19-4209-9325-CE920C865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3718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828C9003-5ED6-41F9-85FB-9F5A08603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44805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left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9072175E-790A-400D-B69C-E39C01008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37185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93CE6DA5-45AA-49A8-90FD-864ACC78DC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448050"/>
            <a:ext cx="2562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TSFresh selection + classifier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0D6A98A3-ECDE-473B-8BBF-CAC875A8F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371850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38593849-2894-4593-9F4D-4EAA6C5EF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448050"/>
            <a:ext cx="20859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Linear SVM + TSFresh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CEB1CE57-6BAE-417C-86D5-D9FD6BF186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3718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649ECE8E-83F1-4C20-8064-9AE9C6A184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44805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F4D4B485-F842-420D-B9CC-5F34F71E1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3718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5FD96810-F9E2-4541-8264-A941DE99D0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44805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7E35CC43-C43A-40D9-9698-350EB91A4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37185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7E990AC3-034A-4935-86DC-C95C035EF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44805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82.0%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A51F53B4-46DF-4027-9C55-DDCC606AEC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37185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CE23A0E5-F7DB-4D05-BA70-224345882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448050"/>
            <a:ext cx="800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0.912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B24EF619-33D3-4AC1-A240-A2DD369DD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38481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6FFCDB5C-D127-4F69-A068-F1DD4B77F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92430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right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AB452953-835C-4217-B096-B2316716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71650" y="3848100"/>
            <a:ext cx="271462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302BCCD5-9275-4F94-BE24-AAA8F6CF91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47850" y="3924300"/>
            <a:ext cx="256222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SelectKBest + classifier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069756B7-F19E-4551-B376-345C87211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86275" y="3848100"/>
            <a:ext cx="2238375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08525A3C-F3B2-49FE-92DF-AA6732041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62475" y="3924300"/>
            <a:ext cx="2085975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Random Forest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BA881685-B5F2-4B7C-8D37-D6C899FC8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38481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F1DB4B65-A50D-47BA-A929-551F49A3A9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00850" y="392430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83.0%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DAC1E043-EC59-45E5-9A8D-7C93E9EF3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67650" y="38481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34C8DD05-0127-4172-9258-55B0DDB6F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392430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86.0%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ADC76F0A-49A3-464A-B832-9C03A09EC2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10650" y="3848100"/>
            <a:ext cx="114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D5581FD5-1BD1-48EA-B923-DAEAB5D93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86850" y="3924300"/>
            <a:ext cx="9906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80.0%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FF11167E-1889-4CF9-B70A-22E53021CF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53650" y="3848100"/>
            <a:ext cx="9525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54EE6A90-64FF-4ACB-A8BD-BCBAE561B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29850" y="3924300"/>
            <a:ext cx="800100" cy="3714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0.902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54972F1E-6D80-495C-A66D-E3C667026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10100"/>
            <a:ext cx="4333875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Best accuracy: 83.0% across combined, enhanced, and right-foot views. Best AUC: 0.912 from left-foot Linear SVM + TSFresh selection.</a:t>
            </a:r>
          </a:p>
        </p:txBody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7E12B4AA-6EC5-4CED-8D44-A26B319BCF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4610100"/>
            <a:ext cx="466725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35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Professor reference: Linear SVM around 80%. Corrected fold-safe Efficient features now exceed that while preserving validation/test separation.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3E4DB66A-75D9-499D-9467-BF7BC02B88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Best models: results/tables/deliverable2_best_models_by_scope.csv</a:t>
            </a:r>
          </a:p>
        </p:txBody>
      </p:sp>
    </p:spTree>
    <p:extLst>
      <p:ext uri="{BB962C8B-B14F-4D97-AF65-F5344CB8AC3E}">
        <p14:creationId xmlns:p14="http://schemas.microsoft.com/office/powerpoint/2010/main" val="1581808916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2DABA2-1B4A-469F-9717-97F23AC2A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F5E608E-EDB7-4C07-BA50-56407B39F2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BEDA40C-F346-45A5-91FA-EB7DCD38A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NEURAL GRID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CFF7E85-04B5-49B1-BBE4-23FC7D963F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Feature-vector neural models improve with tuning but trail classical models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CEB2273-ABD0-46E0-A198-F8F86EE2F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Grid: k_features in {100, 200, 400}, learning rate in {0.0003, 0.0008}, weight decay in {0.0001, 0.001}.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BDF988-79FC-4AA6-8959-14B53CB81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Task 1 + Task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FB3EDB-52C5-4A8A-A8FA-92BBD13C3B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52650"/>
            <a:ext cx="157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right PatchTST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CBE27DA-8C21-4589-9BB2-AD17457EF8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71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B3370B-0DDD-4FDE-815A-669A5F1F5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171700"/>
            <a:ext cx="2655794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6EA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09DEBFD-4209-495A-A230-AA0FA4DC38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1526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3D6EA8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3D6EA8"/>
                </a:solidFill>
                <a:latin typeface="Aptos"/>
                <a:ea typeface="Aptos"/>
                <a:cs typeface="Aptos"/>
              </a:rPr>
              <a:t>79.0%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C2B3883-906A-49A0-8018-88CBC1D7F9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09850"/>
            <a:ext cx="157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combined PatchTST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E682B55-CCB1-4F2D-B4E7-CE057B44F0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289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501D77-9BF5-4CB8-BCD4-41E1A1748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2628900"/>
            <a:ext cx="2622176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6C7014D-0E67-40C6-9EA8-71E837CE21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26098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7D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7D61"/>
                </a:solidFill>
                <a:latin typeface="Aptos"/>
                <a:ea typeface="Aptos"/>
                <a:cs typeface="Aptos"/>
              </a:rPr>
              <a:t>78.0%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3F751AB-D5EA-441B-BEB1-66BF3AEE20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067050"/>
            <a:ext cx="157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enhanced PatchTST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00D693E-0EE2-4D95-B08B-C27F4C6860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861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D5ED24-AFFE-401A-ABCD-A895ABEAB4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086100"/>
            <a:ext cx="258855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6602C9B-3226-4DD4-8B30-DE03952B6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0670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7D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7D61"/>
                </a:solidFill>
                <a:latin typeface="Aptos"/>
                <a:ea typeface="Aptos"/>
                <a:cs typeface="Aptos"/>
              </a:rPr>
              <a:t>77.0%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6696C-1AFD-43A9-8B90-28EE128414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24250"/>
            <a:ext cx="157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combined GRU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0BF96E4-DA67-4C56-8E1D-310BFFAFFD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433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782F1EF-7465-40B7-B8BE-E42F13BE34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3543300"/>
            <a:ext cx="2588559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5185A82-B38E-44A5-9323-4FADBD26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5242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7D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7D61"/>
                </a:solidFill>
                <a:latin typeface="Aptos"/>
                <a:ea typeface="Aptos"/>
                <a:cs typeface="Aptos"/>
              </a:rPr>
              <a:t>77.0%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9547B36-5B46-4406-9260-2ED4CBB61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981450"/>
            <a:ext cx="157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right 1D ResNet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FEB7F9D-6DC4-4EF6-BC2A-94A2962C4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0005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2DB641F-14DA-4617-B624-CB53762F8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000500"/>
            <a:ext cx="255494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BDDECA5-685C-46D2-AE17-2DBEF477D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39814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7D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7D61"/>
                </a:solidFill>
                <a:latin typeface="Aptos"/>
                <a:ea typeface="Aptos"/>
                <a:cs typeface="Aptos"/>
              </a:rPr>
              <a:t>76.0%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626C9973-BA0A-484D-8933-450FD73233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438650"/>
            <a:ext cx="1571625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9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left 1D ResNet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A3F1CC5-0513-495E-A0E8-136EFDDEE0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457700"/>
            <a:ext cx="2857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6EB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603C44-A30C-4291-84B3-DFE5A8B80E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66975" y="4457700"/>
            <a:ext cx="2554941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F7D6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ECDF72A-8946-40B5-8C51-09E965940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19725" y="4438650"/>
            <a:ext cx="6667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4F7D61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4F7D61"/>
                </a:solidFill>
                <a:latin typeface="Aptos"/>
                <a:ea typeface="Aptos"/>
                <a:cs typeface="Aptos"/>
              </a:rPr>
              <a:t>76.0%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C2BA90C5-A009-4E71-99B7-D7D695FFA7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0574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7A77AED0-59CC-49F7-B1CD-9A77218353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143125"/>
            <a:ext cx="10858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Scope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916DBA6-AD86-41E4-A786-1A77E1346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0574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267CE740-1593-4A78-BEC6-5B5852D1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143125"/>
            <a:ext cx="11811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Model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20F6A4CA-8F0D-48E0-9563-80C9D6818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0574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009D45C-EA23-4980-9585-4B65FC2160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143125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Accuracy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5009A68-7487-43C4-B79D-A60DACB9DF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0574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0613FBD5-494E-4AC4-BF8A-F82A5756B5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143125"/>
            <a:ext cx="84772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25" b="1">
                <a:solidFill>
                  <a:srgbClr val="FFFFFF"/>
                </a:solidFill>
                <a:latin typeface="Aptos"/>
                <a:ea typeface="Aptos"/>
                <a:cs typeface="Aptos"/>
              </a:defRPr>
            </a:pPr>
            <a:r>
              <a:rPr sz="825" b="1">
                <a:solidFill>
                  <a:srgbClr val="FFFFFF"/>
                </a:solidFill>
                <a:latin typeface="Aptos"/>
                <a:ea typeface="Aptos"/>
                <a:cs typeface="Aptos"/>
              </a:rPr>
              <a:t>AUC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8863DAED-9028-447C-A451-155EDD4A9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4574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FE916965-AC51-4EB6-8710-5B8EB8A0CC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533650"/>
            <a:ext cx="1085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right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8CC61AED-6C4A-46FB-B61F-FD93670B54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4574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B0F37DF5-14FE-473A-8613-DCC1B6B3A5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533650"/>
            <a:ext cx="1181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PatchTST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29C2696B-AEED-441C-BAFD-61465704F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4574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CB4C2585-62FB-44C5-9140-F22074DF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53365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79.0%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E3827A6E-176E-433F-92D0-B7D68F6D0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4574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DDA38AAF-0B6A-45A6-BB83-661682D4C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53365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0.888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B415156C-EDF5-47D8-AF64-0BEF094F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28575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2DD9C61D-4E04-4C60-A694-22E188CAA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2933700"/>
            <a:ext cx="1085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4E4F05F7-CD92-45C6-9F42-AD9D7044A2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28575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266DE67A-D143-4B6E-8201-7AA7014FE5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33700"/>
            <a:ext cx="1181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PatchTST</a:t>
            </a:r>
          </a:p>
        </p:txBody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FA83DC6E-9CC8-40EC-896C-74F4C13939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28575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FD85C40C-616E-4BBE-B8EE-5D06564B4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293370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78.0%</a:t>
            </a:r>
          </a:p>
        </p:txBody>
      </p:sp>
      <p:sp>
        <p:nvSpPr>
          <p:cNvPr id="53" name="">
            <a:extLst xmlns:a="http://schemas.openxmlformats.org/drawingml/2006/main">
              <a:ext uri="{FF2B5EF4-FFF2-40B4-BE49-F238E27FC236}">
                <a16:creationId xmlns:a16="http://schemas.microsoft.com/office/drawing/2014/main" id="{22057598-CA1F-4F62-A85F-669B0E1AA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28575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4" name="">
            <a:extLst xmlns:a="http://schemas.openxmlformats.org/drawingml/2006/main">
              <a:ext uri="{FF2B5EF4-FFF2-40B4-BE49-F238E27FC236}">
                <a16:creationId xmlns:a16="http://schemas.microsoft.com/office/drawing/2014/main" id="{97473E97-6D7A-4B9E-A5B6-62B3C67EE1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293370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0.866</a:t>
            </a:r>
          </a:p>
        </p:txBody>
      </p:sp>
      <p:sp>
        <p:nvSpPr>
          <p:cNvPr id="55" name="">
            <a:extLst xmlns:a="http://schemas.openxmlformats.org/drawingml/2006/main">
              <a:ext uri="{FF2B5EF4-FFF2-40B4-BE49-F238E27FC236}">
                <a16:creationId xmlns:a16="http://schemas.microsoft.com/office/drawing/2014/main" id="{2A1A0B33-F693-4999-86E5-CC3E603A58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2575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6" name="">
            <a:extLst xmlns:a="http://schemas.openxmlformats.org/drawingml/2006/main">
              <a:ext uri="{FF2B5EF4-FFF2-40B4-BE49-F238E27FC236}">
                <a16:creationId xmlns:a16="http://schemas.microsoft.com/office/drawing/2014/main" id="{CEA410EE-E34A-4920-AABF-F0921D647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333750"/>
            <a:ext cx="1085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enhanced</a:t>
            </a:r>
          </a:p>
        </p:txBody>
      </p:sp>
      <p:sp>
        <p:nvSpPr>
          <p:cNvPr id="57" name="">
            <a:extLst xmlns:a="http://schemas.openxmlformats.org/drawingml/2006/main">
              <a:ext uri="{FF2B5EF4-FFF2-40B4-BE49-F238E27FC236}">
                <a16:creationId xmlns:a16="http://schemas.microsoft.com/office/drawing/2014/main" id="{BEF9BDE7-BDC2-44CF-B93B-FD97E2F82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2575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58" name="">
            <a:extLst xmlns:a="http://schemas.openxmlformats.org/drawingml/2006/main">
              <a:ext uri="{FF2B5EF4-FFF2-40B4-BE49-F238E27FC236}">
                <a16:creationId xmlns:a16="http://schemas.microsoft.com/office/drawing/2014/main" id="{C65FBD71-480F-4ABA-A082-8C32C83BBD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333750"/>
            <a:ext cx="1181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PatchTST</a:t>
            </a:r>
          </a:p>
        </p:txBody>
      </p:sp>
      <p:sp>
        <p:nvSpPr>
          <p:cNvPr id="59" name="">
            <a:extLst xmlns:a="http://schemas.openxmlformats.org/drawingml/2006/main">
              <a:ext uri="{FF2B5EF4-FFF2-40B4-BE49-F238E27FC236}">
                <a16:creationId xmlns:a16="http://schemas.microsoft.com/office/drawing/2014/main" id="{2D9D2DA9-83D0-42A3-BEBB-E706FAF419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2575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0" name="">
            <a:extLst xmlns:a="http://schemas.openxmlformats.org/drawingml/2006/main">
              <a:ext uri="{FF2B5EF4-FFF2-40B4-BE49-F238E27FC236}">
                <a16:creationId xmlns:a16="http://schemas.microsoft.com/office/drawing/2014/main" id="{EFA03006-E74E-4711-8990-B3C11DB901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33375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77.0%</a:t>
            </a:r>
          </a:p>
        </p:txBody>
      </p:sp>
      <p:sp>
        <p:nvSpPr>
          <p:cNvPr id="61" name="">
            <a:extLst xmlns:a="http://schemas.openxmlformats.org/drawingml/2006/main">
              <a:ext uri="{FF2B5EF4-FFF2-40B4-BE49-F238E27FC236}">
                <a16:creationId xmlns:a16="http://schemas.microsoft.com/office/drawing/2014/main" id="{672E6E23-3B72-4D04-B7F7-61383C8AF3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2575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2" name="">
            <a:extLst xmlns:a="http://schemas.openxmlformats.org/drawingml/2006/main">
              <a:ext uri="{FF2B5EF4-FFF2-40B4-BE49-F238E27FC236}">
                <a16:creationId xmlns:a16="http://schemas.microsoft.com/office/drawing/2014/main" id="{D98C7053-145E-48B0-AD06-1972DC9AF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33375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0.866</a:t>
            </a:r>
          </a:p>
        </p:txBody>
      </p:sp>
      <p:sp>
        <p:nvSpPr>
          <p:cNvPr id="63" name="">
            <a:extLst xmlns:a="http://schemas.openxmlformats.org/drawingml/2006/main">
              <a:ext uri="{FF2B5EF4-FFF2-40B4-BE49-F238E27FC236}">
                <a16:creationId xmlns:a16="http://schemas.microsoft.com/office/drawing/2014/main" id="{5F26E625-6F3E-464F-8834-64D06AC87D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365760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4" name="">
            <a:extLst xmlns:a="http://schemas.openxmlformats.org/drawingml/2006/main">
              <a:ext uri="{FF2B5EF4-FFF2-40B4-BE49-F238E27FC236}">
                <a16:creationId xmlns:a16="http://schemas.microsoft.com/office/drawing/2014/main" id="{2E1F07A3-25AF-479A-991F-D8BA698D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3733800"/>
            <a:ext cx="1085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combined</a:t>
            </a:r>
          </a:p>
        </p:txBody>
      </p:sp>
      <p:sp>
        <p:nvSpPr>
          <p:cNvPr id="65" name="">
            <a:extLst xmlns:a="http://schemas.openxmlformats.org/drawingml/2006/main">
              <a:ext uri="{FF2B5EF4-FFF2-40B4-BE49-F238E27FC236}">
                <a16:creationId xmlns:a16="http://schemas.microsoft.com/office/drawing/2014/main" id="{900C97D4-2FCF-4BB3-A379-24E5178221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365760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6" name="">
            <a:extLst xmlns:a="http://schemas.openxmlformats.org/drawingml/2006/main">
              <a:ext uri="{FF2B5EF4-FFF2-40B4-BE49-F238E27FC236}">
                <a16:creationId xmlns:a16="http://schemas.microsoft.com/office/drawing/2014/main" id="{42476EC9-711A-49DF-97DA-0CB1B818DF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733800"/>
            <a:ext cx="1181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GRU</a:t>
            </a:r>
          </a:p>
        </p:txBody>
      </p:sp>
      <p:sp>
        <p:nvSpPr>
          <p:cNvPr id="67" name="">
            <a:extLst xmlns:a="http://schemas.openxmlformats.org/drawingml/2006/main">
              <a:ext uri="{FF2B5EF4-FFF2-40B4-BE49-F238E27FC236}">
                <a16:creationId xmlns:a16="http://schemas.microsoft.com/office/drawing/2014/main" id="{8CFDAA53-3A08-4CB3-9473-372394B08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36576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68" name="">
            <a:extLst xmlns:a="http://schemas.openxmlformats.org/drawingml/2006/main">
              <a:ext uri="{FF2B5EF4-FFF2-40B4-BE49-F238E27FC236}">
                <a16:creationId xmlns:a16="http://schemas.microsoft.com/office/drawing/2014/main" id="{21516AB8-629C-40A3-B620-197E0D681C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373380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77.0%</a:t>
            </a:r>
          </a:p>
        </p:txBody>
      </p:sp>
      <p:sp>
        <p:nvSpPr>
          <p:cNvPr id="69" name="">
            <a:extLst xmlns:a="http://schemas.openxmlformats.org/drawingml/2006/main">
              <a:ext uri="{FF2B5EF4-FFF2-40B4-BE49-F238E27FC236}">
                <a16:creationId xmlns:a16="http://schemas.microsoft.com/office/drawing/2014/main" id="{1BE28F30-7F0E-417F-8EBE-9EDB14570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365760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0" name="">
            <a:extLst xmlns:a="http://schemas.openxmlformats.org/drawingml/2006/main">
              <a:ext uri="{FF2B5EF4-FFF2-40B4-BE49-F238E27FC236}">
                <a16:creationId xmlns:a16="http://schemas.microsoft.com/office/drawing/2014/main" id="{EE0E9894-CE37-4B8A-AA0C-5A8B70CA7F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373380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0.826</a:t>
            </a:r>
          </a:p>
        </p:txBody>
      </p:sp>
      <p:sp>
        <p:nvSpPr>
          <p:cNvPr id="71" name="">
            <a:extLst xmlns:a="http://schemas.openxmlformats.org/drawingml/2006/main">
              <a:ext uri="{FF2B5EF4-FFF2-40B4-BE49-F238E27FC236}">
                <a16:creationId xmlns:a16="http://schemas.microsoft.com/office/drawing/2014/main" id="{983A5950-20B9-43A7-A406-A6BC5ADA5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3250" y="4057650"/>
            <a:ext cx="12382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2" name="">
            <a:extLst xmlns:a="http://schemas.openxmlformats.org/drawingml/2006/main">
              <a:ext uri="{FF2B5EF4-FFF2-40B4-BE49-F238E27FC236}">
                <a16:creationId xmlns:a16="http://schemas.microsoft.com/office/drawing/2014/main" id="{C02DBE42-F9D9-4700-9F87-1BF1FA2BC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9450" y="4133850"/>
            <a:ext cx="108585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right</a:t>
            </a:r>
          </a:p>
        </p:txBody>
      </p:sp>
      <p:sp>
        <p:nvSpPr>
          <p:cNvPr id="73" name="">
            <a:extLst xmlns:a="http://schemas.openxmlformats.org/drawingml/2006/main">
              <a:ext uri="{FF2B5EF4-FFF2-40B4-BE49-F238E27FC236}">
                <a16:creationId xmlns:a16="http://schemas.microsoft.com/office/drawing/2014/main" id="{B456CCFB-E248-4747-B1EA-7FADEDAD5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0" y="4057650"/>
            <a:ext cx="1333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4" name="">
            <a:extLst xmlns:a="http://schemas.openxmlformats.org/drawingml/2006/main">
              <a:ext uri="{FF2B5EF4-FFF2-40B4-BE49-F238E27FC236}">
                <a16:creationId xmlns:a16="http://schemas.microsoft.com/office/drawing/2014/main" id="{768DE61C-FD24-4F83-B9C3-F1304A77A7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33850"/>
            <a:ext cx="11811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1D ResNet</a:t>
            </a:r>
          </a:p>
        </p:txBody>
      </p:sp>
      <p:sp>
        <p:nvSpPr>
          <p:cNvPr id="75" name="">
            <a:extLst xmlns:a="http://schemas.openxmlformats.org/drawingml/2006/main">
              <a:ext uri="{FF2B5EF4-FFF2-40B4-BE49-F238E27FC236}">
                <a16:creationId xmlns:a16="http://schemas.microsoft.com/office/drawing/2014/main" id="{39CEF5E5-1C6E-41DB-AB7E-278F22A908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0" y="40576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6" name="">
            <a:extLst xmlns:a="http://schemas.openxmlformats.org/drawingml/2006/main">
              <a:ext uri="{FF2B5EF4-FFF2-40B4-BE49-F238E27FC236}">
                <a16:creationId xmlns:a16="http://schemas.microsoft.com/office/drawing/2014/main" id="{F8B7EA7A-9948-4296-B93A-109AC7669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01200" y="413385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76.0%</a:t>
            </a:r>
          </a:p>
        </p:txBody>
      </p:sp>
      <p:sp>
        <p:nvSpPr>
          <p:cNvPr id="77" name="">
            <a:extLst xmlns:a="http://schemas.openxmlformats.org/drawingml/2006/main">
              <a:ext uri="{FF2B5EF4-FFF2-40B4-BE49-F238E27FC236}">
                <a16:creationId xmlns:a16="http://schemas.microsoft.com/office/drawing/2014/main" id="{4B0139E7-2B4C-42C3-8218-E8A34DC445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525125" y="4057650"/>
            <a:ext cx="1000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7F9FA"/>
          </a:solidFill>
          <a:ln xmlns:a="http://schemas.openxmlformats.org/drawingml/2006/main" w="9525">
            <a:solidFill>
              <a:srgbClr val="DDE5EA"/>
            </a:solidFill>
            <a:prstDash val="solid"/>
          </a:ln>
        </p:spPr>
      </p:sp>
      <p:sp>
        <p:nvSpPr>
          <p:cNvPr id="78" name="">
            <a:extLst xmlns:a="http://schemas.openxmlformats.org/drawingml/2006/main">
              <a:ext uri="{FF2B5EF4-FFF2-40B4-BE49-F238E27FC236}">
                <a16:creationId xmlns:a16="http://schemas.microsoft.com/office/drawing/2014/main" id="{5F3024EB-DAE9-421A-9DF6-EE0512B81D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01325" y="4133850"/>
            <a:ext cx="8477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863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863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0.832</a:t>
            </a:r>
          </a:p>
        </p:txBody>
      </p:sp>
      <p:sp>
        <p:nvSpPr>
          <p:cNvPr id="79" name="">
            <a:extLst xmlns:a="http://schemas.openxmlformats.org/drawingml/2006/main">
              <a:ext uri="{FF2B5EF4-FFF2-40B4-BE49-F238E27FC236}">
                <a16:creationId xmlns:a16="http://schemas.microsoft.com/office/drawing/2014/main" id="{05D853C8-49B3-4928-A186-B9C9842309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00650"/>
            <a:ext cx="49530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PatchTST is the best neural option after grid tuning, but the feature-vector neural models do not surpass the best SVM/RF baselines.</a:t>
            </a:r>
          </a:p>
        </p:txBody>
      </p:sp>
      <p:sp>
        <p:nvSpPr>
          <p:cNvPr id="80" name="">
            <a:extLst xmlns:a="http://schemas.openxmlformats.org/drawingml/2006/main">
              <a:ext uri="{FF2B5EF4-FFF2-40B4-BE49-F238E27FC236}">
                <a16:creationId xmlns:a16="http://schemas.microsoft.com/office/drawing/2014/main" id="{D257AD83-2345-4BFF-86AD-6A1CF008B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Neural grid: results/tables/deliverable2_feature_neural_fold_metrics.csv</a:t>
            </a:r>
          </a:p>
        </p:txBody>
      </p:sp>
    </p:spTree>
    <p:extLst>
      <p:ext uri="{BB962C8B-B14F-4D97-AF65-F5344CB8AC3E}">
        <p14:creationId xmlns:p14="http://schemas.microsoft.com/office/powerpoint/2010/main" val="137501328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4F3E29-C7CB-49D7-A8A7-95B2D387DB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FB792AC-DC95-4CA3-97EC-76A4B8720D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00CB08-DC8D-4BE0-AFE9-D1EC353D8B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AA0A5A4-5B71-4C3A-B183-DD297E77D1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Summary charts and confusion matrices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331A9F1-F530-438E-B3C5-4DAF658ED0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Rendered directly from the final merged fold-safe result tables.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1B8D8EB-0748-4A2D-B170-737B5978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Task 1 + Task 2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35b89bca614d0e"/>
          <a:stretch xmlns:a="http://schemas.openxmlformats.org/drawingml/2006/main"/>
        </p:blipFill>
        <p:spPr>
          <a:xfrm xmlns:a="http://schemas.openxmlformats.org/drawingml/2006/main">
            <a:off x="647700" y="2635250"/>
            <a:ext cx="5334000" cy="1778000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3cbadff255046da"/>
          <a:stretch xmlns:a="http://schemas.openxmlformats.org/drawingml/2006/main"/>
        </p:blipFill>
        <p:spPr>
          <a:xfrm xmlns:a="http://schemas.openxmlformats.org/drawingml/2006/main">
            <a:off x="6438900" y="2905125"/>
            <a:ext cx="4953000" cy="1238250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BA407F7-5CC1-4113-83BD-E0F71D3545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19700"/>
            <a:ext cx="10287000" cy="438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00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The confusion matrices are pooled across the test predictions for each best-by-scope model, after validation-selected model choices were fixed.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A542A9C-A214-47CB-9494-1E9F4FE31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Figures: results/figures/deliverable2_metric_summary.png and deliverable2_best_confusion_matrices.png</a:t>
            </a:r>
          </a:p>
        </p:txBody>
      </p:sp>
    </p:spTree>
    <p:extLst>
      <p:ext uri="{BB962C8B-B14F-4D97-AF65-F5344CB8AC3E}">
        <p14:creationId xmlns:p14="http://schemas.microsoft.com/office/powerpoint/2010/main" val="8809678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0E66FA-A5A1-486A-88BB-C94A84A11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2FBE6E6-4743-4BE0-AA84-5D54B1BDD6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95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F5F7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E36FDA1-16A6-4ED0-9C71-95B321C707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61950"/>
            <a:ext cx="219075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97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REPRODUCIBILITY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32103AD-97F9-4499-B25A-3382ADE8F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28650"/>
            <a:ext cx="8191500" cy="742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defRPr>
            </a:pPr>
            <a:r>
              <a:rPr sz="2250" b="1">
                <a:solidFill>
                  <a:srgbClr val="17202A"/>
                </a:solidFill>
                <a:latin typeface="Aptos Display"/>
                <a:ea typeface="Aptos Display"/>
                <a:cs typeface="Aptos Display"/>
              </a:rPr>
              <a:t>Files generated for review and rerun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B0D7B26-56B5-4CF4-BB0C-4745E6774C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428750"/>
            <a:ext cx="85725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The notebook and runner are set up so the experiment can be rerun without changing the protocol.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80D8BF6-8A14-49C8-B1CC-86AE472F1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82250" y="6419850"/>
            <a:ext cx="12382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r">
              <a:defRPr sz="900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900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Task 1 + Task 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0C0ED80-A923-46D6-ACA7-0DB48488E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383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Notebook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3526022-B53A-4A45-8AC6-E40B89D13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383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Task1_Task2_Efficient_FoldSafe.ipynb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CBB7A4B-1992-4646-9D43-655B62EA7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193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92CAF28-4D03-4538-A177-4589B7A2B0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Runner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8D9B7D9-1829-4B81-BEC0-3DBE78EB2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6289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scripts/run_deliverable2.py -&gt; scripts/run_deliverable2_foldsafe.py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8FD3F6-7565-4EB2-AB31-B443B551C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0099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AD6CACC-21AB-4BF0-A299-8DB10376A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194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Feature matrices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DD4A74-B155-4C84-9130-9218416016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2194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results/fold_features/Fold_*/{training,validation,test}_feature_matrix_efficient.csv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C76DAF-9370-4D91-ADF3-7A66C907C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6004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D4D9866-690B-478B-B3D8-B961EF1EBE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100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Result tables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6EF901D-8067-4D06-972A-885BD61F6F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381000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results/tables/deliverable2_model_summary.csv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44456A-75D3-4684-B733-5478A2623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19100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FFB3A7E-E617-494C-A9A4-DED989BBBD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2F5F73"/>
                </a:solidFill>
                <a:latin typeface="Aptos"/>
                <a:ea typeface="Aptos"/>
                <a:cs typeface="Aptos"/>
              </a:defRPr>
            </a:pPr>
            <a:r>
              <a:rPr sz="1125" b="1">
                <a:solidFill>
                  <a:srgbClr val="2F5F73"/>
                </a:solidFill>
                <a:latin typeface="Aptos"/>
                <a:ea typeface="Aptos"/>
                <a:cs typeface="Aptos"/>
              </a:rPr>
              <a:t>Feature selection comparison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13D52BB-539A-4AEA-8716-8F6ED7A5E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4400550"/>
            <a:ext cx="72390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125" b="0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125" b="0">
                <a:solidFill>
                  <a:srgbClr val="17202A"/>
                </a:solidFill>
                <a:latin typeface="Aptos"/>
                <a:ea typeface="Aptos"/>
                <a:cs typeface="Aptos"/>
              </a:rPr>
              <a:t>results/tables/deliverable2_feature_selection_comparison.csv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5EE1FB8-464E-4132-BBB2-501B77BF8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781550"/>
            <a:ext cx="96202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3E9EE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78A4B34-6BE8-4DBB-8DB1-58729E236C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353050"/>
            <a:ext cx="923925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17202A"/>
                </a:solidFill>
                <a:latin typeface="Aptos"/>
                <a:ea typeface="Aptos"/>
                <a:cs typeface="Aptos"/>
              </a:defRPr>
            </a:pPr>
            <a:r>
              <a:rPr sz="1275" b="1">
                <a:solidFill>
                  <a:srgbClr val="17202A"/>
                </a:solidFill>
                <a:latin typeface="Aptos"/>
                <a:ea typeface="Aptos"/>
                <a:cs typeface="Aptos"/>
              </a:rPr>
              <a:t>Recommended presentation claim: the corrected fold-safe protocol is now defensible, and Efficient TSFresh + classical classifiers is the current best non-Mamba baseline.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A961542-91E0-4646-9933-5966351FB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19850"/>
            <a:ext cx="7429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5C6670"/>
                </a:solidFill>
                <a:latin typeface="Aptos"/>
                <a:ea typeface="Aptos"/>
                <a:cs typeface="Aptos"/>
              </a:defRPr>
            </a:pPr>
            <a:r>
              <a:rPr sz="825" b="0">
                <a:solidFill>
                  <a:srgbClr val="5C6670"/>
                </a:solidFill>
                <a:latin typeface="Aptos"/>
                <a:ea typeface="Aptos"/>
                <a:cs typeface="Aptos"/>
              </a:rPr>
              <a:t>Fold-safe Efficient TSFresh pipeline</a:t>
            </a:r>
          </a:p>
        </p:txBody>
      </p:sp>
    </p:spTree>
    <p:extLst>
      <p:ext uri="{BB962C8B-B14F-4D97-AF65-F5344CB8AC3E}">
        <p14:creationId xmlns:p14="http://schemas.microsoft.com/office/powerpoint/2010/main" val="1939868237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2026-06-05T13:05:02.7770000Z</dcterms:created>
  <dcterms:modified xsi:type="dcterms:W3CDTF">2026-06-05T13:05:02.7770000Z</dcterms:modified>
</coreProperties>
</file>